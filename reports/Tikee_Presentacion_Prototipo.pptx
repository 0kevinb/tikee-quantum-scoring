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AUC media (10 semillas)</a:t>
            </a:r>
          </a:p>
        </c:rich>
      </c:tx>
      <c:layout/>
      <c:overlay val="0"/>
    </c:title>
    <c:autoTitleDeleted val="0"/>
    <c:plotArea>
      <c:layout/>
      <c:barChart>
        <c:barDir val="col"/>
        <c:grouping val="clustered"/>
        <c:varyColors val="0"/>
        <c:ser>
          <c:idx val="0"/>
          <c:order val="0"/>
          <c:tx>
            <c:strRef>
              <c:f>Sheet1!$B$1</c:f>
              <c:strCache>
                <c:ptCount val="1"/>
                <c:pt idx="0">
                  <c:v>AUC media</c:v>
                </c:pt>
              </c:strCache>
            </c:strRef>
          </c:tx>
          <c:spPr>
            <a:solidFill>
              <a:srgbClr val="1E2761"/>
            </a:solidFill>
            <a:effectLst/>
          </c:spPr>
          <c:invertIfNegative val="0"/>
          <c:dLbls>
            <c:numFmt formatCode="0.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1E2761"/>
              </a:solidFill>
              <a:effectLst/>
            </c:spPr>
          </c:dPt>
          <c:dPt>
            <c:idx val="2"/>
            <c:invertIfNegative val="0"/>
            <c:bubble3D val="0"/>
            <c:spPr>
              <a:solidFill>
                <a:srgbClr val="1E2761"/>
              </a:solidFill>
              <a:effectLst/>
            </c:spPr>
          </c:dPt>
          <c:dPt>
            <c:idx val="3"/>
            <c:invertIfNegative val="0"/>
            <c:bubble3D val="0"/>
            <c:spPr>
              <a:solidFill>
                <a:srgbClr val="B23A48"/>
              </a:solidFill>
              <a:effectLst/>
            </c:spPr>
          </c:dPt>
          <c:dPt>
            <c:idx val="4"/>
            <c:invertIfNegative val="0"/>
            <c:bubble3D val="0"/>
            <c:spPr>
              <a:solidFill>
                <a:srgbClr val="8B93B8"/>
              </a:solidFill>
              <a:effectLst/>
            </c:spPr>
          </c:dPt>
          <c:cat>
            <c:multiLvlStrRef>
              <c:f>Sheet1!$A$2:$A$6</c:f>
              <c:multiLvlStrCache>
                <c:ptCount val="5"/>
                <c:lvl>
                  <c:pt idx="0">
                    <c:v>Todas</c:v>
                  </c:pt>
                  <c:pt idx="1">
                    <c:v>LASSO</c:v>
                  </c:pt>
                  <c:pt idx="2">
                    <c:v>Stepwise</c:v>
                  </c:pt>
                  <c:pt idx="3">
                    <c:v>QUBO
+recocido</c:v>
                  </c:pt>
                  <c:pt idx="4">
                    <c:v>QUBO
óptimo cert.</c:v>
                  </c:pt>
                </c:lvl>
              </c:multiLvlStrCache>
            </c:multiLvlStrRef>
          </c:cat>
          <c:val>
            <c:numRef>
              <c:f>Sheet1!$B$2:$B$6</c:f>
              <c:numCache>
                <c:formatCode>General</c:formatCode>
                <c:ptCount val="5"/>
                <c:pt idx="0">
                  <c:v>0.8226</c:v>
                </c:pt>
                <c:pt idx="1">
                  <c:v>0.8231</c:v>
                </c:pt>
                <c:pt idx="2">
                  <c:v>0.8229</c:v>
                </c:pt>
                <c:pt idx="3">
                  <c:v>0.815</c:v>
                </c:pt>
                <c:pt idx="4">
                  <c:v>0.8205</c:v>
                </c:pt>
              </c:numCache>
            </c:numRef>
          </c:val>
        </c:ser>
        <c:dLbls>
          <c:numFmt formatCode="0.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max val="0.85"/>
          <c:min val="0.7"/>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AUC media (10 semillas)</a:t>
            </a:r>
          </a:p>
        </c:rich>
      </c:tx>
      <c:layout/>
      <c:overlay val="0"/>
    </c:title>
    <c:autoTitleDeleted val="0"/>
    <c:plotArea>
      <c:layout/>
      <c:barChart>
        <c:barDir val="col"/>
        <c:grouping val="clustered"/>
        <c:varyColors val="0"/>
        <c:ser>
          <c:idx val="0"/>
          <c:order val="0"/>
          <c:tx>
            <c:strRef>
              <c:f>Sheet1!$B$1</c:f>
              <c:strCache>
                <c:ptCount val="1"/>
                <c:pt idx="0">
                  <c:v>AUC media</c:v>
                </c:pt>
              </c:strCache>
            </c:strRef>
          </c:tx>
          <c:spPr>
            <a:solidFill>
              <a:srgbClr val="1E2761"/>
            </a:solidFill>
            <a:effectLst/>
          </c:spPr>
          <c:invertIfNegative val="0"/>
          <c:dLbls>
            <c:numFmt formatCode="0.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1E2761"/>
              </a:solidFill>
              <a:effectLst/>
            </c:spPr>
          </c:dPt>
          <c:dPt>
            <c:idx val="2"/>
            <c:invertIfNegative val="0"/>
            <c:bubble3D val="0"/>
            <c:spPr>
              <a:solidFill>
                <a:srgbClr val="1E2761"/>
              </a:solidFill>
              <a:effectLst/>
            </c:spPr>
          </c:dPt>
          <c:dPt>
            <c:idx val="3"/>
            <c:invertIfNegative val="0"/>
            <c:bubble3D val="0"/>
            <c:spPr>
              <a:solidFill>
                <a:srgbClr val="B23A48"/>
              </a:solidFill>
              <a:effectLst/>
            </c:spPr>
          </c:dPt>
          <c:dPt>
            <c:idx val="4"/>
            <c:invertIfNegative val="0"/>
            <c:bubble3D val="0"/>
            <c:spPr>
              <a:solidFill>
                <a:srgbClr val="B23A48"/>
              </a:solidFill>
              <a:effectLst/>
            </c:spPr>
          </c:dPt>
          <c:cat>
            <c:multiLvlStrRef>
              <c:f>Sheet1!$A$2:$A$6</c:f>
              <c:multiLvlStrCache>
                <c:ptCount val="5"/>
                <c:lvl>
                  <c:pt idx="0">
                    <c:v>Todas</c:v>
                  </c:pt>
                  <c:pt idx="1">
                    <c:v>LASSO</c:v>
                  </c:pt>
                  <c:pt idx="2">
                    <c:v>Stepwise</c:v>
                  </c:pt>
                  <c:pt idx="3">
                    <c:v>QUBO
+recocido</c:v>
                  </c:pt>
                  <c:pt idx="4">
                    <c:v>QUBO
+MILP</c:v>
                  </c:pt>
                </c:lvl>
              </c:multiLvlStrCache>
            </c:multiLvlStrRef>
          </c:cat>
          <c:val>
            <c:numRef>
              <c:f>Sheet1!$B$2:$B$6</c:f>
              <c:numCache>
                <c:formatCode>General</c:formatCode>
                <c:ptCount val="5"/>
                <c:pt idx="0">
                  <c:v>0.8179</c:v>
                </c:pt>
                <c:pt idx="1">
                  <c:v>0.819</c:v>
                </c:pt>
                <c:pt idx="2">
                  <c:v>0.8197</c:v>
                </c:pt>
                <c:pt idx="3">
                  <c:v>0.7875</c:v>
                </c:pt>
                <c:pt idx="4">
                  <c:v>0.7967</c:v>
                </c:pt>
              </c:numCache>
            </c:numRef>
          </c:val>
        </c:ser>
        <c:dLbls>
          <c:numFmt formatCode="0.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max val="0.85"/>
          <c:min val="0.7"/>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Tikee prueba, de forma honesta y reproducible, si la optimización combinatoria (QUBO) mejora la selección de variables para scoring crediticio frente a los métodos que ya usa la industria. Adelantar que el resultado no es el esperado de un pitch de 'IA cuántica' — y que esa honestidad es el punto.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el jurado/audiencia tiene el teléfono a mano, este es el momento de que escaneen el QR y sigan la demo en paralelo en la pestaña Simulador mientras avanza la presentación. La app no entrena nada en vivo (carga modelos ya entrenados), así que no se cuelga en el peor momento.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clave: nadie audita hoy cuánto sesgo indirecto sobrevive en el modelo final. LASSO y stepwise optimizan precisión, no auditabilidad. Ese vacío es lo que este prototipo se propone medir, no resolver mágicamente con 'IA cuántica'.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Enfatizar el diseño experimental, no los solucionadores en sí: separar formulación, heurístico y paradigma cuántico es lo que permite decir con precisión DÓNDE está el problema cuando algo falla, en vez de un 'no funcionó' genérico.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existe para que confíen en los números que vienen. 26/26 pruebas, coincidencia exacta MILP-vs-enumeración en las 10 semillas, cero ajuste post-hoc de hiperparámetros. Sin esto, cualquier resultado — bueno o malo — sería sospechoso.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 neutral-a-positivo, no vender de más: sin diferencia estadística en AUC. Lo real es la parsimonia (8.8 vs 13.3 variables) y que abre la puerta al hallazgo de equidad de la diapositiva 8. La menor estabilidad (Jaccard 0.45) es una limitación real, dicha sin rodeos.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momento más honesto del pitch: aquí QUBO pierde de forma estadísticamente real, no por casualidad. Explicar la causa (ruido puro compitiendo con señal débil cuando sobra cardinalidad) y ser explícitos en que probamos un arreglo rápido y no calificó — eso genera más confianza que ocultarlo.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Pausa aquí. Esta es la diapositiva que justifica el proyecto completo. 1.00 a 0.61 no es un matiz — es la diferencia entre 'la zona de residencia se puede reconstruir perfecto' y 'ya no se puede'. Nunca se usó zona de residencia como variable de entrada del modelo de crédito; esto se filtra por las variables correlacionadas que sobreviven.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Traducir el hallazgo técnico a lenguaje de negocio/regulatorio para el jurado no técnico: 'defendible ante el supervisor' importa más para una cooperativa SEPS que 0.003 de AUC. La última fila es la más importante — decir la verdad incómoda de que a veces la recomendación honesta es NO adoptar el optimizador, y que el framework es lo que permite decidirlo con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apurar esta diapositiva ni tratarla como trámite. Nombrar las 4 limitaciones en voz alta es lo que distingue un pitch académico honesto de un pitch de ventas — y es exactamente lo que el usuario pidió priorizar: vender la idea COMO prototipo, no como producto terminado.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roadmap responde a la pregunta obvia del jurado: '¿y ahora qué?'. v1.1 ataca la brecha de Nivel B directamente. v1.2 es el paso que convierte esto de tesis a piloto real: se necesita un convenio con una cooperativa SEPS. v2.0 es la visión a largo plazo — mitigar, no solo medir.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Repetir la reformulación explícitamente: no vendemos 'IA cuántica que gana en todo', vendemos un framework de auditoría con verificación matemática cruzada que demuestra, con datos y no con promesas, dónde ayuda una optimización combinatoria y dónde no. Invitar a preguntas y recordar que la demo (QR de la diapositiva 2) queda disponible para que la prueben ellos mismos.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326880" y="-1645920"/>
            <a:ext cx="5029200" cy="5029200"/>
          </a:xfrm>
          <a:prstGeom prst="ellipse">
            <a:avLst/>
          </a:prstGeom>
          <a:solidFill>
            <a:srgbClr val="141B47"/>
          </a:solidFill>
          <a:ln/>
        </p:spPr>
      </p:sp>
      <p:sp>
        <p:nvSpPr>
          <p:cNvPr id="3" name="Shape 1"/>
          <p:cNvSpPr/>
          <p:nvPr/>
        </p:nvSpPr>
        <p:spPr>
          <a:xfrm>
            <a:off x="10607040" y="4206240"/>
            <a:ext cx="2926080" cy="2926080"/>
          </a:xfrm>
          <a:prstGeom prst="ellipse">
            <a:avLst/>
          </a:prstGeom>
          <a:solidFill>
            <a:srgbClr val="B23A48">
              <a:alpha val="22000"/>
            </a:srgbClr>
          </a:solidFill>
          <a:ln/>
        </p:spPr>
      </p:sp>
      <p:sp>
        <p:nvSpPr>
          <p:cNvPr id="4" name="Text 2"/>
          <p:cNvSpPr/>
          <p:nvPr/>
        </p:nvSpPr>
        <p:spPr>
          <a:xfrm>
            <a:off x="822960" y="914400"/>
            <a:ext cx="9144000" cy="365760"/>
          </a:xfrm>
          <a:prstGeom prst="rect">
            <a:avLst/>
          </a:prstGeom>
          <a:noFill/>
          <a:ln/>
        </p:spPr>
        <p:txBody>
          <a:bodyPr wrap="square"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PROTOTIPO · PROYECTO DE INNOVACIÓN UNIVERSITARIA · UTPL ECUADOR</a:t>
            </a:r>
            <a:endParaRPr lang="en-US" sz="1300" dirty="0"/>
          </a:p>
        </p:txBody>
      </p:sp>
      <p:sp>
        <p:nvSpPr>
          <p:cNvPr id="5" name="Text 3"/>
          <p:cNvSpPr/>
          <p:nvPr/>
        </p:nvSpPr>
        <p:spPr>
          <a:xfrm>
            <a:off x="777240" y="1737360"/>
            <a:ext cx="9144000" cy="1463040"/>
          </a:xfrm>
          <a:prstGeom prst="rect">
            <a:avLst/>
          </a:prstGeom>
          <a:noFill/>
          <a:ln/>
        </p:spPr>
        <p:txBody>
          <a:bodyPr wrap="square" rtlCol="0" anchor="ctr"/>
          <a:lstStyle/>
          <a:p>
            <a:pPr indent="0" marL="0">
              <a:buNone/>
            </a:pPr>
            <a:r>
              <a:rPr lang="en-US" sz="8000" b="1" dirty="0">
                <a:solidFill>
                  <a:srgbClr val="FFFFFF"/>
                </a:solidFill>
                <a:latin typeface="Cambria" pitchFamily="34" charset="0"/>
                <a:ea typeface="Cambria" pitchFamily="34" charset="-122"/>
                <a:cs typeface="Cambria" pitchFamily="34" charset="-120"/>
              </a:rPr>
              <a:t>TIKEE</a:t>
            </a:r>
            <a:endParaRPr lang="en-US" sz="8000" dirty="0"/>
          </a:p>
        </p:txBody>
      </p:sp>
      <p:sp>
        <p:nvSpPr>
          <p:cNvPr id="6" name="Text 4"/>
          <p:cNvSpPr/>
          <p:nvPr/>
        </p:nvSpPr>
        <p:spPr>
          <a:xfrm>
            <a:off x="822960" y="3246120"/>
            <a:ext cx="8686800" cy="640080"/>
          </a:xfrm>
          <a:prstGeom prst="rect">
            <a:avLst/>
          </a:prstGeom>
          <a:noFill/>
          <a:ln/>
        </p:spPr>
        <p:txBody>
          <a:bodyPr wrap="square" rtlCol="0" anchor="ctr"/>
          <a:lstStyle/>
          <a:p>
            <a:pPr indent="0" marL="0">
              <a:buNone/>
            </a:pPr>
            <a:r>
              <a:rPr lang="en-US" sz="2200" dirty="0">
                <a:solidFill>
                  <a:srgbClr val="CADCFC"/>
                </a:solidFill>
                <a:latin typeface="Calibri" pitchFamily="34" charset="0"/>
                <a:ea typeface="Calibri" pitchFamily="34" charset="-122"/>
                <a:cs typeface="Calibri" pitchFamily="34" charset="-120"/>
              </a:rPr>
              <a:t>Selección de variables cuántico-inspirada para scoring crediticio</a:t>
            </a:r>
            <a:endParaRPr lang="en-US" sz="2200" dirty="0"/>
          </a:p>
        </p:txBody>
      </p:sp>
      <p:sp>
        <p:nvSpPr>
          <p:cNvPr id="7" name="Text 5"/>
          <p:cNvSpPr/>
          <p:nvPr/>
        </p:nvSpPr>
        <p:spPr>
          <a:xfrm>
            <a:off x="822960" y="3977640"/>
            <a:ext cx="8046720" cy="731520"/>
          </a:xfrm>
          <a:prstGeom prst="rect">
            <a:avLst/>
          </a:prstGeom>
          <a:noFill/>
          <a:ln/>
        </p:spPr>
        <p:txBody>
          <a:bodyPr wrap="square" rtlCol="0" anchor="ctr"/>
          <a:lstStyle/>
          <a:p>
            <a:pPr indent="0" marL="0">
              <a:buNone/>
            </a:pPr>
            <a:r>
              <a:rPr lang="en-US" sz="1500" i="1" dirty="0">
                <a:solidFill>
                  <a:srgbClr val="9FB3E8"/>
                </a:solidFill>
                <a:latin typeface="Calibri" pitchFamily="34" charset="0"/>
                <a:ea typeface="Calibri" pitchFamily="34" charset="-122"/>
                <a:cs typeface="Calibri" pitchFamily="34" charset="-120"/>
              </a:rPr>
              <a:t>Un banco de pruebas honesto para saber si la optimización combinatoria mejora el crédito — y una herramienta real de auditoría de sesgo que sí funciona.</a:t>
            </a:r>
            <a:endParaRPr lang="en-US" sz="1500" dirty="0"/>
          </a:p>
        </p:txBody>
      </p:sp>
      <p:sp>
        <p:nvSpPr>
          <p:cNvPr id="8" name="Text 6"/>
          <p:cNvSpPr/>
          <p:nvPr/>
        </p:nvSpPr>
        <p:spPr>
          <a:xfrm>
            <a:off x="822960" y="6126480"/>
            <a:ext cx="9144000" cy="365760"/>
          </a:xfrm>
          <a:prstGeom prst="rect">
            <a:avLst/>
          </a:prstGeom>
          <a:noFill/>
          <a:ln/>
        </p:spPr>
        <p:txBody>
          <a:bodyPr wrap="square" rtlCol="0" anchor="ctr"/>
          <a:lstStyle/>
          <a:p>
            <a:pPr indent="0" marL="0">
              <a:buNone/>
            </a:pPr>
            <a:r>
              <a:rPr lang="en-US" sz="1100" dirty="0">
                <a:solidFill>
                  <a:srgbClr val="7C8FC7"/>
                </a:solidFill>
                <a:latin typeface="Calibri" pitchFamily="34" charset="0"/>
                <a:ea typeface="Calibri" pitchFamily="34" charset="-122"/>
                <a:cs typeface="Calibri" pitchFamily="34" charset="-120"/>
              </a:rPr>
              <a:t>Datos 100% sintéticos. "Cuántico-inspirado" = recocido simulado clásico. Sin hardware cuántico.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200" b="1" spc="200" kern="0" dirty="0">
                <a:solidFill>
                  <a:srgbClr val="B23A48"/>
                </a:solidFill>
                <a:latin typeface="Calibri" pitchFamily="34" charset="0"/>
                <a:ea typeface="Calibri" pitchFamily="34" charset="-122"/>
                <a:cs typeface="Calibri" pitchFamily="34" charset="-120"/>
              </a:rPr>
              <a:t>PRUÉBALO TÚ MISMO</a:t>
            </a:r>
            <a:endParaRPr lang="en-US" sz="12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La app está corriendo en vivo, ahora mismo</a:t>
            </a:r>
            <a:endParaRPr lang="en-US" sz="3000" dirty="0"/>
          </a:p>
        </p:txBody>
      </p:sp>
      <p:sp>
        <p:nvSpPr>
          <p:cNvPr id="4" name="Shape 2"/>
          <p:cNvSpPr/>
          <p:nvPr/>
        </p:nvSpPr>
        <p:spPr>
          <a:xfrm>
            <a:off x="640080" y="1828800"/>
            <a:ext cx="6949440" cy="3566160"/>
          </a:xfrm>
          <a:prstGeom prst="roundRect">
            <a:avLst>
              <a:gd name="adj" fmla="val 3077"/>
            </a:avLst>
          </a:prstGeom>
          <a:solidFill>
            <a:srgbClr val="F3F5FC"/>
          </a:solidFill>
          <a:ln/>
        </p:spPr>
      </p:sp>
      <p:sp>
        <p:nvSpPr>
          <p:cNvPr id="5" name="Text 3"/>
          <p:cNvSpPr/>
          <p:nvPr/>
        </p:nvSpPr>
        <p:spPr>
          <a:xfrm>
            <a:off x="914400" y="2103120"/>
            <a:ext cx="6400800" cy="548640"/>
          </a:xfrm>
          <a:prstGeom prst="rect">
            <a:avLst/>
          </a:prstGeom>
          <a:noFill/>
          <a:ln/>
        </p:spPr>
        <p:txBody>
          <a:bodyPr wrap="square"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web-production-e797c.up.railway.app</a:t>
            </a:r>
            <a:endParaRPr lang="en-US" sz="2000" dirty="0"/>
          </a:p>
        </p:txBody>
      </p:sp>
      <p:sp>
        <p:nvSpPr>
          <p:cNvPr id="6" name="Text 4"/>
          <p:cNvSpPr/>
          <p:nvPr/>
        </p:nvSpPr>
        <p:spPr>
          <a:xfrm>
            <a:off x="914400" y="2834640"/>
            <a:ext cx="6400800" cy="38404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1 · Datos  </a:t>
            </a:r>
            <a:pPr indent="0" marL="0">
              <a:buNone/>
            </a:pPr>
            <a:r>
              <a:rPr lang="en-US" sz="1350" dirty="0">
                <a:solidFill>
                  <a:srgbClr val="1F2937"/>
                </a:solidFill>
                <a:latin typeface="Calibri" pitchFamily="34" charset="0"/>
                <a:ea typeface="Calibri" pitchFamily="34" charset="-122"/>
                <a:cs typeface="Calibri" pitchFamily="34" charset="-120"/>
              </a:rPr>
              <a:t>esquema, correlaciones, fidelidad sintética</a:t>
            </a:r>
            <a:endParaRPr lang="en-US" sz="1350" dirty="0"/>
          </a:p>
        </p:txBody>
      </p:sp>
      <p:sp>
        <p:nvSpPr>
          <p:cNvPr id="7" name="Text 5"/>
          <p:cNvSpPr/>
          <p:nvPr/>
        </p:nvSpPr>
        <p:spPr>
          <a:xfrm>
            <a:off x="914400" y="3291840"/>
            <a:ext cx="6400800" cy="38404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2 · Selección  </a:t>
            </a:r>
            <a:pPr indent="0" marL="0">
              <a:buNone/>
            </a:pPr>
            <a:r>
              <a:rPr lang="en-US" sz="1350" dirty="0">
                <a:solidFill>
                  <a:srgbClr val="1F2937"/>
                </a:solidFill>
                <a:latin typeface="Calibri" pitchFamily="34" charset="0"/>
                <a:ea typeface="Calibri" pitchFamily="34" charset="-122"/>
                <a:cs typeface="Calibri" pitchFamily="34" charset="-120"/>
              </a:rPr>
              <a:t>qué eligió cada método, matriz Q, curva QAOA</a:t>
            </a:r>
            <a:endParaRPr lang="en-US" sz="1350" dirty="0"/>
          </a:p>
        </p:txBody>
      </p:sp>
      <p:sp>
        <p:nvSpPr>
          <p:cNvPr id="8" name="Text 6"/>
          <p:cNvSpPr/>
          <p:nvPr/>
        </p:nvSpPr>
        <p:spPr>
          <a:xfrm>
            <a:off x="914400" y="3749040"/>
            <a:ext cx="6400800" cy="38404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3 · Comparación  </a:t>
            </a:r>
            <a:pPr indent="0" marL="0">
              <a:buNone/>
            </a:pPr>
            <a:r>
              <a:rPr lang="en-US" sz="1350" dirty="0">
                <a:solidFill>
                  <a:srgbClr val="1F2937"/>
                </a:solidFill>
                <a:latin typeface="Calibri" pitchFamily="34" charset="0"/>
                <a:ea typeface="Calibri" pitchFamily="34" charset="-122"/>
                <a:cs typeface="Calibri" pitchFamily="34" charset="-120"/>
              </a:rPr>
              <a:t>ROC, KS, matrices de confusión</a:t>
            </a:r>
            <a:endParaRPr lang="en-US" sz="1350" dirty="0"/>
          </a:p>
        </p:txBody>
      </p:sp>
      <p:sp>
        <p:nvSpPr>
          <p:cNvPr id="9" name="Text 7"/>
          <p:cNvSpPr/>
          <p:nvPr/>
        </p:nvSpPr>
        <p:spPr>
          <a:xfrm>
            <a:off x="914400" y="4206240"/>
            <a:ext cx="6400800" cy="38404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4 · Simulador  </a:t>
            </a:r>
            <a:pPr indent="0" marL="0">
              <a:buNone/>
            </a:pPr>
            <a:r>
              <a:rPr lang="en-US" sz="1350" dirty="0">
                <a:solidFill>
                  <a:srgbClr val="1F2937"/>
                </a:solidFill>
                <a:latin typeface="Calibri" pitchFamily="34" charset="0"/>
                <a:ea typeface="Calibri" pitchFamily="34" charset="-122"/>
                <a:cs typeface="Calibri" pitchFamily="34" charset="-120"/>
              </a:rPr>
              <a:t>probabilidad de crédito en vivo + 3 razones principales</a:t>
            </a:r>
            <a:endParaRPr lang="en-US" sz="1350" dirty="0"/>
          </a:p>
        </p:txBody>
      </p:sp>
      <p:sp>
        <p:nvSpPr>
          <p:cNvPr id="10" name="Text 8"/>
          <p:cNvSpPr/>
          <p:nvPr/>
        </p:nvSpPr>
        <p:spPr>
          <a:xfrm>
            <a:off x="914400" y="4663440"/>
            <a:ext cx="6400800" cy="38404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5 · Estabilidad  </a:t>
            </a:r>
            <a:pPr indent="0" marL="0">
              <a:buNone/>
            </a:pPr>
            <a:r>
              <a:rPr lang="en-US" sz="1350" dirty="0">
                <a:solidFill>
                  <a:srgbClr val="1F2937"/>
                </a:solidFill>
                <a:latin typeface="Calibri" pitchFamily="34" charset="0"/>
                <a:ea typeface="Calibri" pitchFamily="34" charset="-122"/>
                <a:cs typeface="Calibri" pitchFamily="34" charset="-120"/>
              </a:rPr>
              <a:t>10 semillas, Friedman/Nemenyi, equidad y proxies</a:t>
            </a:r>
            <a:endParaRPr lang="en-US" sz="1350" dirty="0"/>
          </a:p>
        </p:txBody>
      </p:sp>
      <p:pic>
        <p:nvPicPr>
          <p:cNvPr id="11" name="Image 0" descr="preencoded.png">    </p:cNvPr>
          <p:cNvPicPr>
            <a:picLocks noChangeAspect="1"/>
          </p:cNvPicPr>
          <p:nvPr/>
        </p:nvPicPr>
        <p:blipFill>
          <a:blip r:embed="rId1"/>
          <a:stretch>
            <a:fillRect/>
          </a:stretch>
        </p:blipFill>
        <p:spPr>
          <a:xfrm>
            <a:off x="8229600" y="1920240"/>
            <a:ext cx="2834640" cy="2834640"/>
          </a:xfrm>
          <a:prstGeom prst="rect">
            <a:avLst/>
          </a:prstGeom>
        </p:spPr>
      </p:pic>
      <p:sp>
        <p:nvSpPr>
          <p:cNvPr id="12" name="Text 9"/>
          <p:cNvSpPr/>
          <p:nvPr/>
        </p:nvSpPr>
        <p:spPr>
          <a:xfrm>
            <a:off x="8229600" y="4846320"/>
            <a:ext cx="2834640" cy="365760"/>
          </a:xfrm>
          <a:prstGeom prst="rect">
            <a:avLst/>
          </a:prstGeom>
          <a:noFill/>
          <a:ln/>
        </p:spPr>
        <p:txBody>
          <a:bodyPr wrap="square"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Escanea para abrir la app</a:t>
            </a:r>
            <a:endParaRPr lang="en-US" sz="1200" dirty="0"/>
          </a:p>
        </p:txBody>
      </p:sp>
      <p:sp>
        <p:nvSpPr>
          <p:cNvPr id="13" name="Text 10"/>
          <p:cNvSpPr/>
          <p:nvPr/>
        </p:nvSpPr>
        <p:spPr>
          <a:xfrm>
            <a:off x="640080" y="5806440"/>
            <a:ext cx="7315200" cy="365760"/>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Código fuente: github.com/0KevinB/tikee-quantum-scoring</a:t>
            </a:r>
            <a:endParaRPr lang="en-US" sz="1200" dirty="0"/>
          </a:p>
        </p:txBody>
      </p:sp>
      <p:sp>
        <p:nvSpPr>
          <p:cNvPr id="14" name="Text 11"/>
          <p:cNvSpPr/>
          <p:nvPr/>
        </p:nvSpPr>
        <p:spPr>
          <a:xfrm>
            <a:off x="11521440" y="6446520"/>
            <a:ext cx="5486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200" b="1" spc="200" kern="0" dirty="0">
                <a:solidFill>
                  <a:srgbClr val="B23A48"/>
                </a:solidFill>
                <a:latin typeface="Calibri" pitchFamily="34" charset="0"/>
                <a:ea typeface="Calibri" pitchFamily="34" charset="-122"/>
                <a:cs typeface="Calibri" pitchFamily="34" charset="-120"/>
              </a:rPr>
              <a:t>EL PROBLEMA</a:t>
            </a:r>
            <a:endParaRPr lang="en-US" sz="12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Menos variables no basta — hay que poder probarlo</a:t>
            </a:r>
            <a:endParaRPr lang="en-US" sz="3000" dirty="0"/>
          </a:p>
        </p:txBody>
      </p:sp>
      <p:sp>
        <p:nvSpPr>
          <p:cNvPr id="4" name="Shape 2"/>
          <p:cNvSpPr/>
          <p:nvPr/>
        </p:nvSpPr>
        <p:spPr>
          <a:xfrm>
            <a:off x="640080" y="1920240"/>
            <a:ext cx="502920" cy="502920"/>
          </a:xfrm>
          <a:prstGeom prst="ellipse">
            <a:avLst/>
          </a:prstGeom>
          <a:solidFill>
            <a:srgbClr val="1E2761"/>
          </a:solidFill>
          <a:ln/>
        </p:spPr>
      </p:sp>
      <p:sp>
        <p:nvSpPr>
          <p:cNvPr id="5" name="Text 3"/>
          <p:cNvSpPr/>
          <p:nvPr/>
        </p:nvSpPr>
        <p:spPr>
          <a:xfrm>
            <a:off x="640080" y="192024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417320" y="1874520"/>
            <a:ext cx="9875520" cy="365760"/>
          </a:xfrm>
          <a:prstGeom prst="rect">
            <a:avLst/>
          </a:prstGeom>
          <a:noFill/>
          <a:ln/>
        </p:spPr>
        <p:txBody>
          <a:bodyPr wrap="square"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Obligación regulatoria</a:t>
            </a:r>
            <a:endParaRPr lang="en-US" sz="1700" dirty="0"/>
          </a:p>
        </p:txBody>
      </p:sp>
      <p:sp>
        <p:nvSpPr>
          <p:cNvPr id="7" name="Text 5"/>
          <p:cNvSpPr/>
          <p:nvPr/>
        </p:nvSpPr>
        <p:spPr>
          <a:xfrm>
            <a:off x="1417320" y="2258568"/>
            <a:ext cx="9875520" cy="548640"/>
          </a:xfrm>
          <a:prstGeom prst="rect">
            <a:avLst/>
          </a:prstGeom>
          <a:noFill/>
          <a:ln/>
        </p:spPr>
        <p:txBody>
          <a:bodyPr wrap="square" rtlCol="0" anchor="ctr"/>
          <a:lstStyle/>
          <a:p>
            <a:pPr indent="0" marL="0">
              <a:buNone/>
            </a:pPr>
            <a:r>
              <a:rPr lang="en-US" sz="1350" dirty="0">
                <a:solidFill>
                  <a:srgbClr val="1F2937"/>
                </a:solidFill>
                <a:latin typeface="Calibri" pitchFamily="34" charset="0"/>
                <a:ea typeface="Calibri" pitchFamily="34" charset="-122"/>
                <a:cs typeface="Calibri" pitchFamily="34" charset="-120"/>
              </a:rPr>
              <a:t>Una cooperativa SEPS debe poder sustentar ante el socio y el supervisor por qué se negó un crédito.</a:t>
            </a:r>
            <a:endParaRPr lang="en-US" sz="1350" dirty="0"/>
          </a:p>
        </p:txBody>
      </p:sp>
      <p:sp>
        <p:nvSpPr>
          <p:cNvPr id="8" name="Shape 6"/>
          <p:cNvSpPr/>
          <p:nvPr/>
        </p:nvSpPr>
        <p:spPr>
          <a:xfrm>
            <a:off x="640080" y="3291840"/>
            <a:ext cx="502920" cy="502920"/>
          </a:xfrm>
          <a:prstGeom prst="ellipse">
            <a:avLst/>
          </a:prstGeom>
          <a:solidFill>
            <a:srgbClr val="1E2761"/>
          </a:solidFill>
          <a:ln/>
        </p:spPr>
      </p:sp>
      <p:sp>
        <p:nvSpPr>
          <p:cNvPr id="9" name="Text 7"/>
          <p:cNvSpPr/>
          <p:nvPr/>
        </p:nvSpPr>
        <p:spPr>
          <a:xfrm>
            <a:off x="640080" y="329184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417320" y="3246120"/>
            <a:ext cx="9875520" cy="365760"/>
          </a:xfrm>
          <a:prstGeom prst="rect">
            <a:avLst/>
          </a:prstGeom>
          <a:noFill/>
          <a:ln/>
        </p:spPr>
        <p:txBody>
          <a:bodyPr wrap="square"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El punto ciego de hoy</a:t>
            </a:r>
            <a:endParaRPr lang="en-US" sz="1700" dirty="0"/>
          </a:p>
        </p:txBody>
      </p:sp>
      <p:sp>
        <p:nvSpPr>
          <p:cNvPr id="11" name="Text 9"/>
          <p:cNvSpPr/>
          <p:nvPr/>
        </p:nvSpPr>
        <p:spPr>
          <a:xfrm>
            <a:off x="1417320" y="3630168"/>
            <a:ext cx="9875520" cy="548640"/>
          </a:xfrm>
          <a:prstGeom prst="rect">
            <a:avLst/>
          </a:prstGeom>
          <a:noFill/>
          <a:ln/>
        </p:spPr>
        <p:txBody>
          <a:bodyPr wrap="square" rtlCol="0" anchor="ctr"/>
          <a:lstStyle/>
          <a:p>
            <a:pPr indent="0" marL="0">
              <a:buNone/>
            </a:pPr>
            <a:r>
              <a:rPr lang="en-US" sz="1350" dirty="0">
                <a:solidFill>
                  <a:srgbClr val="1F2937"/>
                </a:solidFill>
                <a:latin typeface="Calibri" pitchFamily="34" charset="0"/>
                <a:ea typeface="Calibri" pitchFamily="34" charset="-122"/>
                <a:cs typeface="Calibri" pitchFamily="34" charset="-120"/>
              </a:rPr>
              <a:t>LASSO y stepwise seleccionan variables, pero ninguno mide cuánto sesgo indirecto hacia sexo, zona o provincia sobrevive en el modelo final.</a:t>
            </a:r>
            <a:endParaRPr lang="en-US" sz="1350" dirty="0"/>
          </a:p>
        </p:txBody>
      </p:sp>
      <p:sp>
        <p:nvSpPr>
          <p:cNvPr id="12" name="Shape 10"/>
          <p:cNvSpPr/>
          <p:nvPr/>
        </p:nvSpPr>
        <p:spPr>
          <a:xfrm>
            <a:off x="640080" y="4663440"/>
            <a:ext cx="502920" cy="502920"/>
          </a:xfrm>
          <a:prstGeom prst="ellipse">
            <a:avLst/>
          </a:prstGeom>
          <a:solidFill>
            <a:srgbClr val="1E2761"/>
          </a:solidFill>
          <a:ln/>
        </p:spPr>
      </p:sp>
      <p:sp>
        <p:nvSpPr>
          <p:cNvPr id="13" name="Text 11"/>
          <p:cNvSpPr/>
          <p:nvPr/>
        </p:nvSpPr>
        <p:spPr>
          <a:xfrm>
            <a:off x="640080" y="466344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1417320" y="4617720"/>
            <a:ext cx="9875520" cy="365760"/>
          </a:xfrm>
          <a:prstGeom prst="rect">
            <a:avLst/>
          </a:prstGeom>
          <a:noFill/>
          <a:ln/>
        </p:spPr>
        <p:txBody>
          <a:bodyPr wrap="square"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La promesa a probar</a:t>
            </a:r>
            <a:endParaRPr lang="en-US" sz="1700" dirty="0"/>
          </a:p>
        </p:txBody>
      </p:sp>
      <p:sp>
        <p:nvSpPr>
          <p:cNvPr id="15" name="Text 13"/>
          <p:cNvSpPr/>
          <p:nvPr/>
        </p:nvSpPr>
        <p:spPr>
          <a:xfrm>
            <a:off x="1417320" y="5001768"/>
            <a:ext cx="9875520" cy="548640"/>
          </a:xfrm>
          <a:prstGeom prst="rect">
            <a:avLst/>
          </a:prstGeom>
          <a:noFill/>
          <a:ln/>
        </p:spPr>
        <p:txBody>
          <a:bodyPr wrap="square" rtlCol="0" anchor="ctr"/>
          <a:lstStyle/>
          <a:p>
            <a:pPr indent="0" marL="0">
              <a:buNone/>
            </a:pPr>
            <a:r>
              <a:rPr lang="en-US" sz="1350" dirty="0">
                <a:solidFill>
                  <a:srgbClr val="1F2937"/>
                </a:solidFill>
                <a:latin typeface="Calibri" pitchFamily="34" charset="0"/>
                <a:ea typeface="Calibri" pitchFamily="34" charset="-122"/>
                <a:cs typeface="Calibri" pitchFamily="34" charset="-120"/>
              </a:rPr>
              <a:t>Un optimizador combinatorio (QUBO) sobre relevancia-redundancia promete modelos más chicos. ¿Es solo una caja negra más opaca, o de verdad ayuda?</a:t>
            </a:r>
            <a:endParaRPr lang="en-US" sz="1350" dirty="0"/>
          </a:p>
        </p:txBody>
      </p:sp>
      <p:sp>
        <p:nvSpPr>
          <p:cNvPr id="16" name="Text 14"/>
          <p:cNvSpPr/>
          <p:nvPr/>
        </p:nvSpPr>
        <p:spPr>
          <a:xfrm>
            <a:off x="11521440" y="6446520"/>
            <a:ext cx="5486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200" b="1" spc="200" kern="0" dirty="0">
                <a:solidFill>
                  <a:srgbClr val="B23A48"/>
                </a:solidFill>
                <a:latin typeface="Calibri" pitchFamily="34" charset="0"/>
                <a:ea typeface="Calibri" pitchFamily="34" charset="-122"/>
                <a:cs typeface="Calibri" pitchFamily="34" charset="-120"/>
              </a:rPr>
              <a:t>EL ENFOQUE</a:t>
            </a:r>
            <a:endParaRPr lang="en-US" sz="12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Cinco solucionadores, el mismo problema matemático</a:t>
            </a:r>
            <a:endParaRPr lang="en-US" sz="3000" dirty="0"/>
          </a:p>
        </p:txBody>
      </p:sp>
      <p:sp>
        <p:nvSpPr>
          <p:cNvPr id="4" name="Text 2"/>
          <p:cNvSpPr/>
          <p:nvPr/>
        </p:nvSpPr>
        <p:spPr>
          <a:xfrm>
            <a:off x="548640" y="1508760"/>
            <a:ext cx="10789920" cy="502920"/>
          </a:xfrm>
          <a:prstGeom prst="rect">
            <a:avLst/>
          </a:prstGeom>
          <a:noFill/>
          <a:ln/>
        </p:spPr>
        <p:txBody>
          <a:bodyPr wrap="square" rtlCol="0" anchor="ctr"/>
          <a:lstStyle/>
          <a:p>
            <a:pPr indent="0" marL="0">
              <a:buNone/>
            </a:pPr>
            <a:r>
              <a:rPr lang="en-US" sz="1350" i="1" dirty="0">
                <a:solidFill>
                  <a:srgbClr val="6B7280"/>
                </a:solidFill>
                <a:latin typeface="Calibri" pitchFamily="34" charset="0"/>
                <a:ea typeface="Calibri" pitchFamily="34" charset="-122"/>
                <a:cs typeface="Calibri" pitchFamily="34" charset="-120"/>
              </a:rPr>
              <a:t>Para separar tres preguntas que la literatura suele mezclar: ¿la formulación es buena? ¿el heurístico aporta algo? ¿el paradigma cuántico aporta algo?</a:t>
            </a:r>
            <a:endParaRPr lang="en-US" sz="1350" dirty="0"/>
          </a:p>
        </p:txBody>
      </p:sp>
      <p:sp>
        <p:nvSpPr>
          <p:cNvPr id="5" name="Shape 3"/>
          <p:cNvSpPr/>
          <p:nvPr/>
        </p:nvSpPr>
        <p:spPr>
          <a:xfrm>
            <a:off x="640080" y="2331720"/>
            <a:ext cx="1965960" cy="1828800"/>
          </a:xfrm>
          <a:prstGeom prst="roundRect">
            <a:avLst>
              <a:gd name="adj" fmla="val 6000"/>
            </a:avLst>
          </a:prstGeom>
          <a:solidFill>
            <a:srgbClr val="F3F5FC"/>
          </a:solidFill>
          <a:ln/>
          <a:effectLst>
            <a:outerShdw sx="100000" sy="100000" kx="0" ky="0" algn="bl" rotWithShape="0" blurRad="76200" dist="25400" dir="5400000">
              <a:srgbClr val="8891B0">
                <a:alpha val="25000"/>
              </a:srgbClr>
            </a:outerShdw>
          </a:effectLst>
        </p:spPr>
      </p:sp>
      <p:sp>
        <p:nvSpPr>
          <p:cNvPr id="6" name="Shape 4"/>
          <p:cNvSpPr/>
          <p:nvPr/>
        </p:nvSpPr>
        <p:spPr>
          <a:xfrm>
            <a:off x="1303020" y="2606040"/>
            <a:ext cx="640080" cy="640080"/>
          </a:xfrm>
          <a:prstGeom prst="ellipse">
            <a:avLst/>
          </a:prstGeom>
          <a:solidFill>
            <a:srgbClr val="1E2761"/>
          </a:solidFill>
          <a:ln/>
        </p:spPr>
      </p:sp>
      <p:sp>
        <p:nvSpPr>
          <p:cNvPr id="7" name="Text 5"/>
          <p:cNvSpPr/>
          <p:nvPr/>
        </p:nvSpPr>
        <p:spPr>
          <a:xfrm>
            <a:off x="1303020" y="2606040"/>
            <a:ext cx="640080" cy="6400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731520" y="3291840"/>
            <a:ext cx="1783080" cy="548640"/>
          </a:xfrm>
          <a:prstGeom prst="rect">
            <a:avLst/>
          </a:prstGeom>
          <a:noFill/>
          <a:ln/>
        </p:spPr>
        <p:txBody>
          <a:bodyPr wrap="square" rtlCol="0" anchor="ctr"/>
          <a:lstStyle/>
          <a:p>
            <a:pPr algn="ctr" indent="0" marL="0">
              <a:buNone/>
            </a:pPr>
            <a:r>
              <a:rPr lang="en-US" sz="1300" b="1" dirty="0">
                <a:solidFill>
                  <a:srgbClr val="1E2761"/>
                </a:solidFill>
                <a:latin typeface="Cambria" pitchFamily="34" charset="0"/>
                <a:ea typeface="Cambria" pitchFamily="34" charset="-122"/>
                <a:cs typeface="Cambria" pitchFamily="34" charset="-120"/>
              </a:rPr>
              <a:t>Recocido</a:t>
            </a:r>
            <a:endParaRPr lang="en-US" sz="1300" dirty="0"/>
          </a:p>
          <a:p>
            <a:pPr algn="ctr" indent="0" marL="0">
              <a:buNone/>
            </a:pPr>
            <a:r>
              <a:rPr lang="en-US" sz="1300" b="1" dirty="0">
                <a:solidFill>
                  <a:srgbClr val="1E2761"/>
                </a:solidFill>
                <a:latin typeface="Cambria" pitchFamily="34" charset="0"/>
                <a:ea typeface="Cambria" pitchFamily="34" charset="-122"/>
                <a:cs typeface="Cambria" pitchFamily="34" charset="-120"/>
              </a:rPr>
              <a:t>simulado</a:t>
            </a:r>
            <a:endParaRPr lang="en-US" sz="1300" dirty="0"/>
          </a:p>
        </p:txBody>
      </p:sp>
      <p:sp>
        <p:nvSpPr>
          <p:cNvPr id="9" name="Text 7"/>
          <p:cNvSpPr/>
          <p:nvPr/>
        </p:nvSpPr>
        <p:spPr>
          <a:xfrm>
            <a:off x="731520" y="3794760"/>
            <a:ext cx="1783080" cy="320040"/>
          </a:xfrm>
          <a:prstGeom prst="rect">
            <a:avLst/>
          </a:prstGeom>
          <a:noFill/>
          <a:ln/>
        </p:spPr>
        <p:txBody>
          <a:bodyPr wrap="square"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Heurístico rápido</a:t>
            </a:r>
            <a:endParaRPr lang="en-US" sz="1000" dirty="0"/>
          </a:p>
        </p:txBody>
      </p:sp>
      <p:sp>
        <p:nvSpPr>
          <p:cNvPr id="10" name="Shape 8"/>
          <p:cNvSpPr/>
          <p:nvPr/>
        </p:nvSpPr>
        <p:spPr>
          <a:xfrm>
            <a:off x="2862072" y="2331720"/>
            <a:ext cx="1965960" cy="1828800"/>
          </a:xfrm>
          <a:prstGeom prst="roundRect">
            <a:avLst>
              <a:gd name="adj" fmla="val 6000"/>
            </a:avLst>
          </a:prstGeom>
          <a:solidFill>
            <a:srgbClr val="F3F5FC"/>
          </a:solidFill>
          <a:ln/>
          <a:effectLst>
            <a:outerShdw sx="100000" sy="100000" kx="0" ky="0" algn="bl" rotWithShape="0" blurRad="76200" dist="25400" dir="5400000">
              <a:srgbClr val="8891B0">
                <a:alpha val="25000"/>
              </a:srgbClr>
            </a:outerShdw>
          </a:effectLst>
        </p:spPr>
      </p:sp>
      <p:sp>
        <p:nvSpPr>
          <p:cNvPr id="11" name="Shape 9"/>
          <p:cNvSpPr/>
          <p:nvPr/>
        </p:nvSpPr>
        <p:spPr>
          <a:xfrm>
            <a:off x="3525012" y="2606040"/>
            <a:ext cx="640080" cy="640080"/>
          </a:xfrm>
          <a:prstGeom prst="ellipse">
            <a:avLst/>
          </a:prstGeom>
          <a:solidFill>
            <a:srgbClr val="1E2761"/>
          </a:solidFill>
          <a:ln/>
        </p:spPr>
      </p:sp>
      <p:sp>
        <p:nvSpPr>
          <p:cNvPr id="12" name="Text 10"/>
          <p:cNvSpPr/>
          <p:nvPr/>
        </p:nvSpPr>
        <p:spPr>
          <a:xfrm>
            <a:off x="3525012" y="2606040"/>
            <a:ext cx="640080" cy="6400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2953512" y="3291840"/>
            <a:ext cx="1783080" cy="548640"/>
          </a:xfrm>
          <a:prstGeom prst="rect">
            <a:avLst/>
          </a:prstGeom>
          <a:noFill/>
          <a:ln/>
        </p:spPr>
        <p:txBody>
          <a:bodyPr wrap="square" rtlCol="0" anchor="ctr"/>
          <a:lstStyle/>
          <a:p>
            <a:pPr algn="ctr" indent="0" marL="0">
              <a:buNone/>
            </a:pPr>
            <a:r>
              <a:rPr lang="en-US" sz="1300" b="1" dirty="0">
                <a:solidFill>
                  <a:srgbClr val="1E2761"/>
                </a:solidFill>
                <a:latin typeface="Cambria" pitchFamily="34" charset="0"/>
                <a:ea typeface="Cambria" pitchFamily="34" charset="-122"/>
                <a:cs typeface="Cambria" pitchFamily="34" charset="-120"/>
              </a:rPr>
              <a:t>Enumeración</a:t>
            </a:r>
            <a:endParaRPr lang="en-US" sz="1300" dirty="0"/>
          </a:p>
          <a:p>
            <a:pPr algn="ctr" indent="0" marL="0">
              <a:buNone/>
            </a:pPr>
            <a:r>
              <a:rPr lang="en-US" sz="1300" b="1" dirty="0">
                <a:solidFill>
                  <a:srgbClr val="1E2761"/>
                </a:solidFill>
                <a:latin typeface="Cambria" pitchFamily="34" charset="0"/>
                <a:ea typeface="Cambria" pitchFamily="34" charset="-122"/>
                <a:cs typeface="Cambria" pitchFamily="34" charset="-120"/>
              </a:rPr>
              <a:t>exacta</a:t>
            </a:r>
            <a:endParaRPr lang="en-US" sz="1300" dirty="0"/>
          </a:p>
        </p:txBody>
      </p:sp>
      <p:sp>
        <p:nvSpPr>
          <p:cNvPr id="14" name="Text 12"/>
          <p:cNvSpPr/>
          <p:nvPr/>
        </p:nvSpPr>
        <p:spPr>
          <a:xfrm>
            <a:off x="2953512" y="3794760"/>
            <a:ext cx="1783080" cy="320040"/>
          </a:xfrm>
          <a:prstGeom prst="rect">
            <a:avLst/>
          </a:prstGeom>
          <a:noFill/>
          <a:ln/>
        </p:spPr>
        <p:txBody>
          <a:bodyPr wrap="square"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Óptimo garantizado</a:t>
            </a:r>
            <a:endParaRPr lang="en-US" sz="1000" dirty="0"/>
          </a:p>
        </p:txBody>
      </p:sp>
      <p:sp>
        <p:nvSpPr>
          <p:cNvPr id="15" name="Shape 13"/>
          <p:cNvSpPr/>
          <p:nvPr/>
        </p:nvSpPr>
        <p:spPr>
          <a:xfrm>
            <a:off x="5084064" y="2331720"/>
            <a:ext cx="1965960" cy="1828800"/>
          </a:xfrm>
          <a:prstGeom prst="roundRect">
            <a:avLst>
              <a:gd name="adj" fmla="val 6000"/>
            </a:avLst>
          </a:prstGeom>
          <a:solidFill>
            <a:srgbClr val="F3F5FC"/>
          </a:solidFill>
          <a:ln/>
          <a:effectLst>
            <a:outerShdw sx="100000" sy="100000" kx="0" ky="0" algn="bl" rotWithShape="0" blurRad="76200" dist="25400" dir="5400000">
              <a:srgbClr val="8891B0">
                <a:alpha val="25000"/>
              </a:srgbClr>
            </a:outerShdw>
          </a:effectLst>
        </p:spPr>
      </p:sp>
      <p:sp>
        <p:nvSpPr>
          <p:cNvPr id="16" name="Shape 14"/>
          <p:cNvSpPr/>
          <p:nvPr/>
        </p:nvSpPr>
        <p:spPr>
          <a:xfrm>
            <a:off x="5747004" y="2606040"/>
            <a:ext cx="640080" cy="640080"/>
          </a:xfrm>
          <a:prstGeom prst="ellipse">
            <a:avLst/>
          </a:prstGeom>
          <a:solidFill>
            <a:srgbClr val="B23A48"/>
          </a:solidFill>
          <a:ln/>
        </p:spPr>
      </p:sp>
      <p:sp>
        <p:nvSpPr>
          <p:cNvPr id="17" name="Text 15"/>
          <p:cNvSpPr/>
          <p:nvPr/>
        </p:nvSpPr>
        <p:spPr>
          <a:xfrm>
            <a:off x="5747004" y="2606040"/>
            <a:ext cx="640080" cy="6400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8" name="Text 16"/>
          <p:cNvSpPr/>
          <p:nvPr/>
        </p:nvSpPr>
        <p:spPr>
          <a:xfrm>
            <a:off x="5175504" y="3291840"/>
            <a:ext cx="1783080" cy="548640"/>
          </a:xfrm>
          <a:prstGeom prst="rect">
            <a:avLst/>
          </a:prstGeom>
          <a:noFill/>
          <a:ln/>
        </p:spPr>
        <p:txBody>
          <a:bodyPr wrap="square" rtlCol="0" anchor="ctr"/>
          <a:lstStyle/>
          <a:p>
            <a:pPr algn="ctr" indent="0" marL="0">
              <a:buNone/>
            </a:pPr>
            <a:r>
              <a:rPr lang="en-US" sz="1300" b="1" dirty="0">
                <a:solidFill>
                  <a:srgbClr val="1E2761"/>
                </a:solidFill>
                <a:latin typeface="Cambria" pitchFamily="34" charset="0"/>
                <a:ea typeface="Cambria" pitchFamily="34" charset="-122"/>
                <a:cs typeface="Cambria" pitchFamily="34" charset="-120"/>
              </a:rPr>
              <a:t>MILP +</a:t>
            </a:r>
            <a:endParaRPr lang="en-US" sz="1300" dirty="0"/>
          </a:p>
          <a:p>
            <a:pPr algn="ctr" indent="0" marL="0">
              <a:buNone/>
            </a:pPr>
            <a:r>
              <a:rPr lang="en-US" sz="1300" b="1" dirty="0">
                <a:solidFill>
                  <a:srgbClr val="1E2761"/>
                </a:solidFill>
                <a:latin typeface="Cambria" pitchFamily="34" charset="0"/>
                <a:ea typeface="Cambria" pitchFamily="34" charset="-122"/>
                <a:cs typeface="Cambria" pitchFamily="34" charset="-120"/>
              </a:rPr>
              <a:t>Glover</a:t>
            </a:r>
            <a:endParaRPr lang="en-US" sz="1300" dirty="0"/>
          </a:p>
        </p:txBody>
      </p:sp>
      <p:sp>
        <p:nvSpPr>
          <p:cNvPr id="19" name="Text 17"/>
          <p:cNvSpPr/>
          <p:nvPr/>
        </p:nvSpPr>
        <p:spPr>
          <a:xfrm>
            <a:off x="5175504" y="3794760"/>
            <a:ext cx="1783080" cy="320040"/>
          </a:xfrm>
          <a:prstGeom prst="rect">
            <a:avLst/>
          </a:prstGeom>
          <a:noFill/>
          <a:ln/>
        </p:spPr>
        <p:txBody>
          <a:bodyPr wrap="square"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Óptimo certificado</a:t>
            </a:r>
            <a:endParaRPr lang="en-US" sz="1000" dirty="0"/>
          </a:p>
        </p:txBody>
      </p:sp>
      <p:sp>
        <p:nvSpPr>
          <p:cNvPr id="20" name="Shape 18"/>
          <p:cNvSpPr/>
          <p:nvPr/>
        </p:nvSpPr>
        <p:spPr>
          <a:xfrm>
            <a:off x="7306056" y="2331720"/>
            <a:ext cx="1965960" cy="1828800"/>
          </a:xfrm>
          <a:prstGeom prst="roundRect">
            <a:avLst>
              <a:gd name="adj" fmla="val 6000"/>
            </a:avLst>
          </a:prstGeom>
          <a:solidFill>
            <a:srgbClr val="F3F5FC"/>
          </a:solidFill>
          <a:ln/>
          <a:effectLst>
            <a:outerShdw sx="100000" sy="100000" kx="0" ky="0" algn="bl" rotWithShape="0" blurRad="76200" dist="25400" dir="5400000">
              <a:srgbClr val="8891B0">
                <a:alpha val="25000"/>
              </a:srgbClr>
            </a:outerShdw>
          </a:effectLst>
        </p:spPr>
      </p:sp>
      <p:sp>
        <p:nvSpPr>
          <p:cNvPr id="21" name="Shape 19"/>
          <p:cNvSpPr/>
          <p:nvPr/>
        </p:nvSpPr>
        <p:spPr>
          <a:xfrm>
            <a:off x="7968996" y="2606040"/>
            <a:ext cx="640080" cy="640080"/>
          </a:xfrm>
          <a:prstGeom prst="ellipse">
            <a:avLst/>
          </a:prstGeom>
          <a:solidFill>
            <a:srgbClr val="1E2761"/>
          </a:solidFill>
          <a:ln/>
        </p:spPr>
      </p:sp>
      <p:sp>
        <p:nvSpPr>
          <p:cNvPr id="22" name="Text 20"/>
          <p:cNvSpPr/>
          <p:nvPr/>
        </p:nvSpPr>
        <p:spPr>
          <a:xfrm>
            <a:off x="7968996" y="2606040"/>
            <a:ext cx="640080" cy="6400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3" name="Text 21"/>
          <p:cNvSpPr/>
          <p:nvPr/>
        </p:nvSpPr>
        <p:spPr>
          <a:xfrm>
            <a:off x="7397496" y="3291840"/>
            <a:ext cx="1783080" cy="548640"/>
          </a:xfrm>
          <a:prstGeom prst="rect">
            <a:avLst/>
          </a:prstGeom>
          <a:noFill/>
          <a:ln/>
        </p:spPr>
        <p:txBody>
          <a:bodyPr wrap="square" rtlCol="0" anchor="ctr"/>
          <a:lstStyle/>
          <a:p>
            <a:pPr algn="ctr" indent="0" marL="0">
              <a:buNone/>
            </a:pPr>
            <a:r>
              <a:rPr lang="en-US" sz="1300" b="1" dirty="0">
                <a:solidFill>
                  <a:srgbClr val="1E2761"/>
                </a:solidFill>
                <a:latin typeface="Cambria" pitchFamily="34" charset="0"/>
                <a:ea typeface="Cambria" pitchFamily="34" charset="-122"/>
                <a:cs typeface="Cambria" pitchFamily="34" charset="-120"/>
              </a:rPr>
              <a:t>Búsqueda</a:t>
            </a:r>
            <a:endParaRPr lang="en-US" sz="1300" dirty="0"/>
          </a:p>
          <a:p>
            <a:pPr algn="ctr" indent="0" marL="0">
              <a:buNone/>
            </a:pPr>
            <a:r>
              <a:rPr lang="en-US" sz="1300" b="1" dirty="0">
                <a:solidFill>
                  <a:srgbClr val="1E2761"/>
                </a:solidFill>
                <a:latin typeface="Cambria" pitchFamily="34" charset="0"/>
                <a:ea typeface="Cambria" pitchFamily="34" charset="-122"/>
                <a:cs typeface="Cambria" pitchFamily="34" charset="-120"/>
              </a:rPr>
              <a:t>tabú</a:t>
            </a:r>
            <a:endParaRPr lang="en-US" sz="1300" dirty="0"/>
          </a:p>
        </p:txBody>
      </p:sp>
      <p:sp>
        <p:nvSpPr>
          <p:cNvPr id="24" name="Text 22"/>
          <p:cNvSpPr/>
          <p:nvPr/>
        </p:nvSpPr>
        <p:spPr>
          <a:xfrm>
            <a:off x="7397496" y="3794760"/>
            <a:ext cx="1783080" cy="320040"/>
          </a:xfrm>
          <a:prstGeom prst="rect">
            <a:avLst/>
          </a:prstGeom>
          <a:noFill/>
          <a:ln/>
        </p:spPr>
        <p:txBody>
          <a:bodyPr wrap="square"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2.º heurístico</a:t>
            </a:r>
            <a:endParaRPr lang="en-US" sz="1000" dirty="0"/>
          </a:p>
        </p:txBody>
      </p:sp>
      <p:sp>
        <p:nvSpPr>
          <p:cNvPr id="25" name="Shape 23"/>
          <p:cNvSpPr/>
          <p:nvPr/>
        </p:nvSpPr>
        <p:spPr>
          <a:xfrm>
            <a:off x="9528048" y="2331720"/>
            <a:ext cx="1965960" cy="1828800"/>
          </a:xfrm>
          <a:prstGeom prst="roundRect">
            <a:avLst>
              <a:gd name="adj" fmla="val 6000"/>
            </a:avLst>
          </a:prstGeom>
          <a:solidFill>
            <a:srgbClr val="F3F5FC"/>
          </a:solidFill>
          <a:ln/>
          <a:effectLst>
            <a:outerShdw sx="100000" sy="100000" kx="0" ky="0" algn="bl" rotWithShape="0" blurRad="76200" dist="25400" dir="5400000">
              <a:srgbClr val="8891B0">
                <a:alpha val="25000"/>
              </a:srgbClr>
            </a:outerShdw>
          </a:effectLst>
        </p:spPr>
      </p:sp>
      <p:sp>
        <p:nvSpPr>
          <p:cNvPr id="26" name="Shape 24"/>
          <p:cNvSpPr/>
          <p:nvPr/>
        </p:nvSpPr>
        <p:spPr>
          <a:xfrm>
            <a:off x="10190988" y="2606040"/>
            <a:ext cx="640080" cy="640080"/>
          </a:xfrm>
          <a:prstGeom prst="ellipse">
            <a:avLst/>
          </a:prstGeom>
          <a:solidFill>
            <a:srgbClr val="1E2761"/>
          </a:solidFill>
          <a:ln/>
        </p:spPr>
      </p:sp>
      <p:sp>
        <p:nvSpPr>
          <p:cNvPr id="27" name="Text 25"/>
          <p:cNvSpPr/>
          <p:nvPr/>
        </p:nvSpPr>
        <p:spPr>
          <a:xfrm>
            <a:off x="10190988" y="2606040"/>
            <a:ext cx="640080" cy="6400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8" name="Text 26"/>
          <p:cNvSpPr/>
          <p:nvPr/>
        </p:nvSpPr>
        <p:spPr>
          <a:xfrm>
            <a:off x="9619488" y="3291840"/>
            <a:ext cx="1783080" cy="548640"/>
          </a:xfrm>
          <a:prstGeom prst="rect">
            <a:avLst/>
          </a:prstGeom>
          <a:noFill/>
          <a:ln/>
        </p:spPr>
        <p:txBody>
          <a:bodyPr wrap="square" rtlCol="0" anchor="ctr"/>
          <a:lstStyle/>
          <a:p>
            <a:pPr algn="ctr" indent="0" marL="0">
              <a:buNone/>
            </a:pPr>
            <a:r>
              <a:rPr lang="en-US" sz="1300" b="1" dirty="0">
                <a:solidFill>
                  <a:srgbClr val="1E2761"/>
                </a:solidFill>
                <a:latin typeface="Cambria" pitchFamily="34" charset="0"/>
                <a:ea typeface="Cambria" pitchFamily="34" charset="-122"/>
                <a:cs typeface="Cambria" pitchFamily="34" charset="-120"/>
              </a:rPr>
              <a:t>QAOA</a:t>
            </a:r>
            <a:endParaRPr lang="en-US" sz="1300" dirty="0"/>
          </a:p>
          <a:p>
            <a:pPr algn="ctr" indent="0" marL="0">
              <a:buNone/>
            </a:pPr>
            <a:r>
              <a:rPr lang="en-US" sz="1300" b="1" dirty="0">
                <a:solidFill>
                  <a:srgbClr val="1E2761"/>
                </a:solidFill>
                <a:latin typeface="Cambria" pitchFamily="34" charset="0"/>
                <a:ea typeface="Cambria" pitchFamily="34" charset="-122"/>
                <a:cs typeface="Cambria" pitchFamily="34" charset="-120"/>
              </a:rPr>
              <a:t>(simulado)</a:t>
            </a:r>
            <a:endParaRPr lang="en-US" sz="1300" dirty="0"/>
          </a:p>
        </p:txBody>
      </p:sp>
      <p:sp>
        <p:nvSpPr>
          <p:cNvPr id="29" name="Text 27"/>
          <p:cNvSpPr/>
          <p:nvPr/>
        </p:nvSpPr>
        <p:spPr>
          <a:xfrm>
            <a:off x="9619488" y="3794760"/>
            <a:ext cx="1783080" cy="320040"/>
          </a:xfrm>
          <a:prstGeom prst="rect">
            <a:avLst/>
          </a:prstGeom>
          <a:noFill/>
          <a:ln/>
        </p:spPr>
        <p:txBody>
          <a:bodyPr wrap="square"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Circuito cuántico</a:t>
            </a:r>
            <a:endParaRPr lang="en-US" sz="1000" dirty="0"/>
          </a:p>
          <a:p>
            <a:pPr algn="ctr" indent="0" marL="0">
              <a:buNone/>
            </a:pPr>
            <a:r>
              <a:rPr lang="en-US" sz="1000" dirty="0">
                <a:solidFill>
                  <a:srgbClr val="6B7280"/>
                </a:solidFill>
                <a:latin typeface="Calibri" pitchFamily="34" charset="0"/>
                <a:ea typeface="Calibri" pitchFamily="34" charset="-122"/>
                <a:cs typeface="Calibri" pitchFamily="34" charset="-120"/>
              </a:rPr>
              <a:t>simulado</a:t>
            </a:r>
            <a:endParaRPr lang="en-US" sz="1000" dirty="0"/>
          </a:p>
        </p:txBody>
      </p:sp>
      <p:sp>
        <p:nvSpPr>
          <p:cNvPr id="30" name="Text 28"/>
          <p:cNvSpPr/>
          <p:nvPr/>
        </p:nvSpPr>
        <p:spPr>
          <a:xfrm>
            <a:off x="640080" y="4572000"/>
            <a:ext cx="10607040" cy="640080"/>
          </a:xfrm>
          <a:prstGeom prst="rect">
            <a:avLst/>
          </a:prstGeom>
          <a:noFill/>
          <a:ln/>
        </p:spPr>
        <p:txBody>
          <a:bodyPr wrap="square" rtlCol="0" anchor="ctr"/>
          <a:lstStyle/>
          <a:p>
            <a:pPr indent="0" marL="0">
              <a:buNone/>
            </a:pPr>
            <a:r>
              <a:rPr lang="en-US" sz="1300" dirty="0">
                <a:solidFill>
                  <a:srgbClr val="1F2937"/>
                </a:solidFill>
                <a:latin typeface="Calibri" pitchFamily="34" charset="0"/>
                <a:ea typeface="Calibri" pitchFamily="34" charset="-122"/>
                <a:cs typeface="Calibri" pitchFamily="34" charset="-120"/>
              </a:rPr>
              <a:t>Dos escalas: Nivel A (18 variables, óptimo verificable) y Nivel B (45 variables, incluye trampas de ruido diseñadas a propósito) — cada una corrida sobre 10 generaciones de datos independientes.</a:t>
            </a:r>
            <a:endParaRPr lang="en-US" sz="1300" dirty="0"/>
          </a:p>
        </p:txBody>
      </p:sp>
      <p:sp>
        <p:nvSpPr>
          <p:cNvPr id="31" name="Text 29"/>
          <p:cNvSpPr/>
          <p:nvPr/>
        </p:nvSpPr>
        <p:spPr>
          <a:xfrm>
            <a:off x="11521440" y="6446520"/>
            <a:ext cx="5486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POR QUÉ CONFIAR EN EL NÚMERO</a:t>
            </a:r>
            <a:endParaRPr lang="en-US" sz="1200" dirty="0"/>
          </a:p>
        </p:txBody>
      </p:sp>
      <p:sp>
        <p:nvSpPr>
          <p:cNvPr id="3" name="Text 1"/>
          <p:cNvSpPr/>
          <p:nvPr/>
        </p:nvSpPr>
        <p:spPr>
          <a:xfrm>
            <a:off x="548640" y="685800"/>
            <a:ext cx="10972800" cy="8229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Verificado, no solo afirmado</a:t>
            </a:r>
            <a:endParaRPr lang="en-US" sz="3000" dirty="0"/>
          </a:p>
        </p:txBody>
      </p:sp>
      <p:sp>
        <p:nvSpPr>
          <p:cNvPr id="4" name="Text 2"/>
          <p:cNvSpPr/>
          <p:nvPr/>
        </p:nvSpPr>
        <p:spPr>
          <a:xfrm>
            <a:off x="822960" y="2103120"/>
            <a:ext cx="3291840" cy="1188720"/>
          </a:xfrm>
          <a:prstGeom prst="rect">
            <a:avLst/>
          </a:prstGeom>
          <a:noFill/>
          <a:ln/>
        </p:spPr>
        <p:txBody>
          <a:bodyPr wrap="square" rtlCol="0" anchor="ctr"/>
          <a:lstStyle/>
          <a:p>
            <a:pPr algn="l" indent="0" marL="0">
              <a:buNone/>
            </a:pPr>
            <a:r>
              <a:rPr lang="en-US" sz="6200" b="1" dirty="0">
                <a:solidFill>
                  <a:srgbClr val="B23A48"/>
                </a:solidFill>
                <a:latin typeface="Cambria" pitchFamily="34" charset="0"/>
                <a:ea typeface="Cambria" pitchFamily="34" charset="-122"/>
                <a:cs typeface="Cambria" pitchFamily="34" charset="-120"/>
              </a:rPr>
              <a:t>26/26</a:t>
            </a:r>
            <a:endParaRPr lang="en-US" sz="6200" dirty="0"/>
          </a:p>
        </p:txBody>
      </p:sp>
      <p:sp>
        <p:nvSpPr>
          <p:cNvPr id="5" name="Text 3"/>
          <p:cNvSpPr/>
          <p:nvPr/>
        </p:nvSpPr>
        <p:spPr>
          <a:xfrm>
            <a:off x="822960" y="3337560"/>
            <a:ext cx="3291840" cy="100584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Pruebas automatizadas en verde</a:t>
            </a:r>
            <a:endParaRPr lang="en-US" sz="1400" dirty="0"/>
          </a:p>
        </p:txBody>
      </p:sp>
      <p:sp>
        <p:nvSpPr>
          <p:cNvPr id="6" name="Text 4"/>
          <p:cNvSpPr/>
          <p:nvPr/>
        </p:nvSpPr>
        <p:spPr>
          <a:xfrm>
            <a:off x="4572000" y="2103120"/>
            <a:ext cx="3291840" cy="1188720"/>
          </a:xfrm>
          <a:prstGeom prst="rect">
            <a:avLst/>
          </a:prstGeom>
          <a:noFill/>
          <a:ln/>
        </p:spPr>
        <p:txBody>
          <a:bodyPr wrap="square" rtlCol="0" anchor="ctr"/>
          <a:lstStyle/>
          <a:p>
            <a:pPr algn="l" indent="0" marL="0">
              <a:buNone/>
            </a:pPr>
            <a:r>
              <a:rPr lang="en-US" sz="6200" b="1" dirty="0">
                <a:solidFill>
                  <a:srgbClr val="B23A48"/>
                </a:solidFill>
                <a:latin typeface="Cambria" pitchFamily="34" charset="0"/>
                <a:ea typeface="Cambria" pitchFamily="34" charset="-122"/>
                <a:cs typeface="Cambria" pitchFamily="34" charset="-120"/>
              </a:rPr>
              <a:t>10/10</a:t>
            </a:r>
            <a:endParaRPr lang="en-US" sz="6200" dirty="0"/>
          </a:p>
        </p:txBody>
      </p:sp>
      <p:sp>
        <p:nvSpPr>
          <p:cNvPr id="7" name="Text 5"/>
          <p:cNvSpPr/>
          <p:nvPr/>
        </p:nvSpPr>
        <p:spPr>
          <a:xfrm>
            <a:off x="4572000" y="3337560"/>
            <a:ext cx="3291840" cy="100584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Semillas donde el óptimo certificado (MILP) coincide EXACTO con la enumeración exhaustiva</a:t>
            </a:r>
            <a:endParaRPr lang="en-US" sz="1400" dirty="0"/>
          </a:p>
        </p:txBody>
      </p:sp>
      <p:sp>
        <p:nvSpPr>
          <p:cNvPr id="8" name="Text 6"/>
          <p:cNvSpPr/>
          <p:nvPr/>
        </p:nvSpPr>
        <p:spPr>
          <a:xfrm>
            <a:off x="8321040" y="2103120"/>
            <a:ext cx="3291840" cy="1188720"/>
          </a:xfrm>
          <a:prstGeom prst="rect">
            <a:avLst/>
          </a:prstGeom>
          <a:noFill/>
          <a:ln/>
        </p:spPr>
        <p:txBody>
          <a:bodyPr wrap="square" rtlCol="0" anchor="ctr"/>
          <a:lstStyle/>
          <a:p>
            <a:pPr algn="l" indent="0" marL="0">
              <a:buNone/>
            </a:pPr>
            <a:r>
              <a:rPr lang="en-US" sz="6200" b="1" dirty="0">
                <a:solidFill>
                  <a:srgbClr val="B23A48"/>
                </a:solidFill>
                <a:latin typeface="Cambria" pitchFamily="34" charset="0"/>
                <a:ea typeface="Cambria" pitchFamily="34" charset="-122"/>
                <a:cs typeface="Cambria" pitchFamily="34" charset="-120"/>
              </a:rPr>
              <a:t>0</a:t>
            </a:r>
            <a:endParaRPr lang="en-US" sz="6200" dirty="0"/>
          </a:p>
        </p:txBody>
      </p:sp>
      <p:sp>
        <p:nvSpPr>
          <p:cNvPr id="9" name="Text 7"/>
          <p:cNvSpPr/>
          <p:nvPr/>
        </p:nvSpPr>
        <p:spPr>
          <a:xfrm>
            <a:off x="8321040" y="3337560"/>
            <a:ext cx="3291840" cy="100584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Hiperparámetros ajustados después de ver resultados de prueba</a:t>
            </a:r>
            <a:endParaRPr lang="en-US" sz="1400" dirty="0"/>
          </a:p>
        </p:txBody>
      </p:sp>
      <p:sp>
        <p:nvSpPr>
          <p:cNvPr id="10" name="Text 8"/>
          <p:cNvSpPr/>
          <p:nvPr/>
        </p:nvSpPr>
        <p:spPr>
          <a:xfrm>
            <a:off x="822960" y="5029200"/>
            <a:ext cx="10058400" cy="548640"/>
          </a:xfrm>
          <a:prstGeom prst="rect">
            <a:avLst/>
          </a:prstGeom>
          <a:noFill/>
          <a:ln/>
        </p:spPr>
        <p:txBody>
          <a:bodyPr wrap="square" rtlCol="0" anchor="ctr"/>
          <a:lstStyle/>
          <a:p>
            <a:pPr indent="0" marL="0">
              <a:buNone/>
            </a:pPr>
            <a:r>
              <a:rPr lang="en-US" sz="1300" i="1" dirty="0">
                <a:solidFill>
                  <a:srgbClr val="9FB3E8"/>
                </a:solidFill>
                <a:latin typeface="Calibri" pitchFamily="34" charset="0"/>
                <a:ea typeface="Calibri" pitchFamily="34" charset="-122"/>
                <a:cs typeface="Calibri" pitchFamily="34" charset="-120"/>
              </a:rPr>
              <a:t>Cinco brazos comparten exactamente la misma semilla, el mismo split y el mismo preprocesamiento — lo único que cambia es el subconjunto de columnas.</a:t>
            </a:r>
            <a:endParaRPr lang="en-US" sz="1300" dirty="0"/>
          </a:p>
        </p:txBody>
      </p:sp>
      <p:sp>
        <p:nvSpPr>
          <p:cNvPr id="11" name="Text 9"/>
          <p:cNvSpPr/>
          <p:nvPr/>
        </p:nvSpPr>
        <p:spPr>
          <a:xfrm>
            <a:off x="11521440" y="6446520"/>
            <a:ext cx="548640" cy="274320"/>
          </a:xfrm>
          <a:prstGeom prst="rect">
            <a:avLst/>
          </a:prstGeom>
          <a:noFill/>
          <a:ln/>
        </p:spPr>
        <p:txBody>
          <a:bodyPr wrap="square" rtlCol="0" anchor="ctr"/>
          <a:lstStyle/>
          <a:p>
            <a:pPr algn="r" indent="0" marL="0">
              <a:buNone/>
            </a:pPr>
            <a:r>
              <a:rPr lang="en-US" sz="1000" dirty="0">
                <a:solidFill>
                  <a:srgbClr val="7C8FC7"/>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200" b="1" spc="200" kern="0" dirty="0">
                <a:solidFill>
                  <a:srgbClr val="B23A48"/>
                </a:solidFill>
                <a:latin typeface="Calibri" pitchFamily="34" charset="0"/>
                <a:ea typeface="Calibri" pitchFamily="34" charset="-122"/>
                <a:cs typeface="Calibri" pitchFamily="34" charset="-120"/>
              </a:rPr>
              <a:t>RESULTADO — NIVEL A · 18 VARIABLES</a:t>
            </a:r>
            <a:endParaRPr lang="en-US" sz="12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Empata en precisión. Gana en parsimonia. Pierde en estabilidad.</a:t>
            </a:r>
            <a:endParaRPr lang="en-US" sz="2500" dirty="0"/>
          </a:p>
        </p:txBody>
      </p:sp>
      <p:graphicFrame>
        <p:nvGraphicFramePr>
          <p:cNvPr id="4" name="Chart 0" descr=""/>
          <p:cNvGraphicFramePr/>
          <p:nvPr/>
        </p:nvGraphicFramePr>
        <p:xfrm>
          <a:off x="548640" y="160020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03720" y="1737360"/>
            <a:ext cx="4754880" cy="1234440"/>
          </a:xfrm>
          <a:prstGeom prst="roundRect">
            <a:avLst>
              <a:gd name="adj" fmla="val 7407"/>
            </a:avLst>
          </a:prstGeom>
          <a:solidFill>
            <a:srgbClr val="F3F5FC"/>
          </a:solidFill>
          <a:ln/>
        </p:spPr>
      </p:sp>
      <p:sp>
        <p:nvSpPr>
          <p:cNvPr id="6" name="Text 3"/>
          <p:cNvSpPr/>
          <p:nvPr/>
        </p:nvSpPr>
        <p:spPr>
          <a:xfrm>
            <a:off x="7132320" y="1847088"/>
            <a:ext cx="4297680" cy="365760"/>
          </a:xfrm>
          <a:prstGeom prst="rect">
            <a:avLst/>
          </a:prstGeom>
          <a:noFill/>
          <a:ln/>
        </p:spPr>
        <p:txBody>
          <a:bodyPr wrap="square"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Sin diferencia significativa</a:t>
            </a:r>
            <a:endParaRPr lang="en-US" sz="1350" dirty="0"/>
          </a:p>
        </p:txBody>
      </p:sp>
      <p:sp>
        <p:nvSpPr>
          <p:cNvPr id="7" name="Text 4"/>
          <p:cNvSpPr/>
          <p:nvPr/>
        </p:nvSpPr>
        <p:spPr>
          <a:xfrm>
            <a:off x="7132320" y="2240280"/>
            <a:ext cx="4297680" cy="640080"/>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Nemenyi no encuentra ninguna diferencia individual QUBO-vs-clásico.</a:t>
            </a:r>
            <a:endParaRPr lang="en-US" sz="1150" dirty="0"/>
          </a:p>
        </p:txBody>
      </p:sp>
      <p:sp>
        <p:nvSpPr>
          <p:cNvPr id="8" name="Shape 5"/>
          <p:cNvSpPr/>
          <p:nvPr/>
        </p:nvSpPr>
        <p:spPr>
          <a:xfrm>
            <a:off x="6903720" y="3154680"/>
            <a:ext cx="4754880" cy="1234440"/>
          </a:xfrm>
          <a:prstGeom prst="roundRect">
            <a:avLst>
              <a:gd name="adj" fmla="val 7407"/>
            </a:avLst>
          </a:prstGeom>
          <a:solidFill>
            <a:srgbClr val="F3F5FC"/>
          </a:solidFill>
          <a:ln/>
        </p:spPr>
      </p:sp>
      <p:sp>
        <p:nvSpPr>
          <p:cNvPr id="9" name="Text 6"/>
          <p:cNvSpPr/>
          <p:nvPr/>
        </p:nvSpPr>
        <p:spPr>
          <a:xfrm>
            <a:off x="7132320" y="3264408"/>
            <a:ext cx="4297680" cy="365760"/>
          </a:xfrm>
          <a:prstGeom prst="rect">
            <a:avLst/>
          </a:prstGeom>
          <a:noFill/>
          <a:ln/>
        </p:spPr>
        <p:txBody>
          <a:bodyPr wrap="square"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8.8 variables vs. 13.3 de LASSO</a:t>
            </a:r>
            <a:endParaRPr lang="en-US" sz="1350" dirty="0"/>
          </a:p>
        </p:txBody>
      </p:sp>
      <p:sp>
        <p:nvSpPr>
          <p:cNvPr id="10" name="Text 7"/>
          <p:cNvSpPr/>
          <p:nvPr/>
        </p:nvSpPr>
        <p:spPr>
          <a:xfrm>
            <a:off x="7132320" y="3657600"/>
            <a:ext cx="4297680" cy="640080"/>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Modelo final más chico y auditable.</a:t>
            </a:r>
            <a:endParaRPr lang="en-US" sz="1150" dirty="0"/>
          </a:p>
        </p:txBody>
      </p:sp>
      <p:sp>
        <p:nvSpPr>
          <p:cNvPr id="11" name="Shape 8"/>
          <p:cNvSpPr/>
          <p:nvPr/>
        </p:nvSpPr>
        <p:spPr>
          <a:xfrm>
            <a:off x="6903720" y="4572000"/>
            <a:ext cx="4754880" cy="1234440"/>
          </a:xfrm>
          <a:prstGeom prst="roundRect">
            <a:avLst>
              <a:gd name="adj" fmla="val 7407"/>
            </a:avLst>
          </a:prstGeom>
          <a:solidFill>
            <a:srgbClr val="F3F5FC"/>
          </a:solidFill>
          <a:ln/>
        </p:spPr>
      </p:sp>
      <p:sp>
        <p:nvSpPr>
          <p:cNvPr id="12" name="Text 9"/>
          <p:cNvSpPr/>
          <p:nvPr/>
        </p:nvSpPr>
        <p:spPr>
          <a:xfrm>
            <a:off x="7132320" y="4681728"/>
            <a:ext cx="4297680" cy="365760"/>
          </a:xfrm>
          <a:prstGeom prst="rect">
            <a:avLst/>
          </a:prstGeom>
          <a:noFill/>
          <a:ln/>
        </p:spPr>
        <p:txBody>
          <a:bodyPr wrap="square"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Estabilidad más baja</a:t>
            </a:r>
            <a:endParaRPr lang="en-US" sz="1350" dirty="0"/>
          </a:p>
        </p:txBody>
      </p:sp>
      <p:sp>
        <p:nvSpPr>
          <p:cNvPr id="13" name="Text 10"/>
          <p:cNvSpPr/>
          <p:nvPr/>
        </p:nvSpPr>
        <p:spPr>
          <a:xfrm>
            <a:off x="7132320" y="5074920"/>
            <a:ext cx="4297680" cy="640080"/>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Jaccard 0.45 (QUBO) vs. 0.64 (LASSO): elige variables algo distintas cada corrida.</a:t>
            </a:r>
            <a:endParaRPr lang="en-US" sz="1150" dirty="0"/>
          </a:p>
        </p:txBody>
      </p:sp>
      <p:sp>
        <p:nvSpPr>
          <p:cNvPr id="14" name="Text 11"/>
          <p:cNvSpPr/>
          <p:nvPr/>
        </p:nvSpPr>
        <p:spPr>
          <a:xfrm>
            <a:off x="11521440" y="6446520"/>
            <a:ext cx="5486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200" b="1" spc="200" kern="0" dirty="0">
                <a:solidFill>
                  <a:srgbClr val="B23A48"/>
                </a:solidFill>
                <a:latin typeface="Calibri" pitchFamily="34" charset="0"/>
                <a:ea typeface="Calibri" pitchFamily="34" charset="-122"/>
                <a:cs typeface="Calibri" pitchFamily="34" charset="-120"/>
              </a:rPr>
              <a:t>RESULTADO — NIVEL B · 45 VARIABLES</a:t>
            </a:r>
            <a:endParaRPr lang="en-US" sz="12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Aquí sí pierde — y sabemos exactamente por qué</a:t>
            </a:r>
            <a:endParaRPr lang="en-US" sz="3000" dirty="0"/>
          </a:p>
        </p:txBody>
      </p:sp>
      <p:graphicFrame>
        <p:nvGraphicFramePr>
          <p:cNvPr id="4" name="Chart 0" descr=""/>
          <p:cNvGraphicFramePr/>
          <p:nvPr/>
        </p:nvGraphicFramePr>
        <p:xfrm>
          <a:off x="548640" y="160020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03720" y="1737360"/>
            <a:ext cx="4754880" cy="2331720"/>
          </a:xfrm>
          <a:prstGeom prst="roundRect">
            <a:avLst>
              <a:gd name="adj" fmla="val 3922"/>
            </a:avLst>
          </a:prstGeom>
          <a:solidFill>
            <a:srgbClr val="FDECEE"/>
          </a:solidFill>
          <a:ln/>
        </p:spPr>
      </p:sp>
      <p:sp>
        <p:nvSpPr>
          <p:cNvPr id="6" name="Text 3"/>
          <p:cNvSpPr/>
          <p:nvPr/>
        </p:nvSpPr>
        <p:spPr>
          <a:xfrm>
            <a:off x="7132320" y="1874520"/>
            <a:ext cx="4297680" cy="365760"/>
          </a:xfrm>
          <a:prstGeom prst="rect">
            <a:avLst/>
          </a:prstGeom>
          <a:noFill/>
          <a:ln/>
        </p:spPr>
        <p:txBody>
          <a:bodyPr wrap="square" rtlCol="0" anchor="ctr"/>
          <a:lstStyle/>
          <a:p>
            <a:pPr indent="0" marL="0">
              <a:buNone/>
            </a:pPr>
            <a:r>
              <a:rPr lang="en-US" sz="1400" b="1" dirty="0">
                <a:solidFill>
                  <a:srgbClr val="B23A48"/>
                </a:solidFill>
                <a:latin typeface="Cambria" pitchFamily="34" charset="0"/>
                <a:ea typeface="Cambria" pitchFamily="34" charset="-122"/>
                <a:cs typeface="Cambria" pitchFamily="34" charset="-120"/>
              </a:rPr>
              <a:t>Diferencia real, no ruido</a:t>
            </a:r>
            <a:endParaRPr lang="en-US" sz="1400" dirty="0"/>
          </a:p>
        </p:txBody>
      </p:sp>
      <p:sp>
        <p:nvSpPr>
          <p:cNvPr id="7" name="Text 4"/>
          <p:cNvSpPr/>
          <p:nvPr/>
        </p:nvSpPr>
        <p:spPr>
          <a:xfrm>
            <a:off x="7132320" y="2286000"/>
            <a:ext cx="4297680" cy="640080"/>
          </a:xfrm>
          <a:prstGeom prst="rect">
            <a:avLst/>
          </a:prstGeom>
          <a:noFill/>
          <a:ln/>
        </p:spPr>
        <p:txBody>
          <a:bodyPr wrap="square"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Stepwise-AIC supera a QUBO con significancia estadística (prueba de Nemenyi, p&lt;0.05).</a:t>
            </a:r>
            <a:endParaRPr lang="en-US" sz="1200" dirty="0"/>
          </a:p>
        </p:txBody>
      </p:sp>
      <p:sp>
        <p:nvSpPr>
          <p:cNvPr id="8" name="Text 5"/>
          <p:cNvSpPr/>
          <p:nvPr/>
        </p:nvSpPr>
        <p:spPr>
          <a:xfrm>
            <a:off x="7132320" y="2926080"/>
            <a:ext cx="4297680" cy="1051560"/>
          </a:xfrm>
          <a:prstGeom prst="rect">
            <a:avLst/>
          </a:prstGeom>
          <a:noFill/>
          <a:ln/>
        </p:spPr>
        <p:txBody>
          <a:bodyPr wrap="square" rtlCol="0" anchor="ctr"/>
          <a:lstStyle/>
          <a:p>
            <a:pPr indent="0" marL="0">
              <a:buNone/>
            </a:pPr>
            <a:r>
              <a:rPr lang="en-US" sz="1200" dirty="0">
                <a:solidFill>
                  <a:srgbClr val="1F2937"/>
                </a:solidFill>
                <a:latin typeface="Calibri" pitchFamily="34" charset="0"/>
                <a:ea typeface="Calibri" pitchFamily="34" charset="-122"/>
                <a:cs typeface="Calibri" pitchFamily="34" charset="-120"/>
              </a:rPr>
              <a:t>Causa diagnosticada: el criterio deja entrar gratis a variables de ruido puro cuando la cardinalidad exigida supera las variables genuinamente útiles. Confirmado en los 3 solucionadores probados.</a:t>
            </a:r>
            <a:endParaRPr lang="en-US" sz="1200" dirty="0"/>
          </a:p>
        </p:txBody>
      </p:sp>
      <p:sp>
        <p:nvSpPr>
          <p:cNvPr id="9" name="Shape 6"/>
          <p:cNvSpPr/>
          <p:nvPr/>
        </p:nvSpPr>
        <p:spPr>
          <a:xfrm>
            <a:off x="6903720" y="4251960"/>
            <a:ext cx="4754880" cy="1417320"/>
          </a:xfrm>
          <a:prstGeom prst="roundRect">
            <a:avLst>
              <a:gd name="adj" fmla="val 6452"/>
            </a:avLst>
          </a:prstGeom>
          <a:solidFill>
            <a:srgbClr val="F3F5FC"/>
          </a:solidFill>
          <a:ln/>
        </p:spPr>
      </p:sp>
      <p:sp>
        <p:nvSpPr>
          <p:cNvPr id="10" name="Text 7"/>
          <p:cNvSpPr/>
          <p:nvPr/>
        </p:nvSpPr>
        <p:spPr>
          <a:xfrm>
            <a:off x="7132320" y="4370832"/>
            <a:ext cx="4297680" cy="320040"/>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No es un parche cosmético</a:t>
            </a:r>
            <a:endParaRPr lang="en-US" sz="1300" dirty="0"/>
          </a:p>
        </p:txBody>
      </p:sp>
      <p:sp>
        <p:nvSpPr>
          <p:cNvPr id="11" name="Text 8"/>
          <p:cNvSpPr/>
          <p:nvPr/>
        </p:nvSpPr>
        <p:spPr>
          <a:xfrm>
            <a:off x="7132320" y="4709160"/>
            <a:ext cx="4297680" cy="868680"/>
          </a:xfrm>
          <a:prstGeom prst="rect">
            <a:avLst/>
          </a:prstGeom>
          <a:noFill/>
          <a:ln/>
        </p:spPr>
        <p:txBody>
          <a:bodyPr wrap="square"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Probamos subir la sensibilidad del estimador de relevancia: no separa limpiamente ruido de señal débil real. El fix correcto es de v2, no de una tarde.</a:t>
            </a:r>
            <a:endParaRPr lang="en-US" sz="1150" dirty="0"/>
          </a:p>
        </p:txBody>
      </p:sp>
      <p:sp>
        <p:nvSpPr>
          <p:cNvPr id="12" name="Text 9"/>
          <p:cNvSpPr/>
          <p:nvPr/>
        </p:nvSpPr>
        <p:spPr>
          <a:xfrm>
            <a:off x="11521440" y="6446520"/>
            <a:ext cx="5486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47"/>
        </a:solidFill>
      </p:bgPr>
    </p:bg>
    <p:spTree>
      <p:nvGrpSpPr>
        <p:cNvPr id="1" name=""/>
        <p:cNvGrpSpPr/>
        <p:nvPr/>
      </p:nvGrpSpPr>
      <p:grpSpPr>
        <a:xfrm>
          <a:off x="0" y="0"/>
          <a:ext cx="0" cy="0"/>
          <a:chOff x="0" y="0"/>
          <a:chExt cx="0" cy="0"/>
        </a:xfrm>
      </p:grpSpPr>
      <p:sp>
        <p:nvSpPr>
          <p:cNvPr id="2" name="Shape 0"/>
          <p:cNvSpPr/>
          <p:nvPr/>
        </p:nvSpPr>
        <p:spPr>
          <a:xfrm>
            <a:off x="-1828800" y="4114800"/>
            <a:ext cx="5486400" cy="5486400"/>
          </a:xfrm>
          <a:prstGeom prst="ellipse">
            <a:avLst/>
          </a:prstGeom>
          <a:solidFill>
            <a:srgbClr val="1E2761"/>
          </a:solidFill>
          <a:ln/>
        </p:spPr>
      </p:sp>
      <p:sp>
        <p:nvSpPr>
          <p:cNvPr id="3" name="Text 1"/>
          <p:cNvSpPr/>
          <p:nvPr/>
        </p:nvSpPr>
        <p:spPr>
          <a:xfrm>
            <a:off x="822960" y="640080"/>
            <a:ext cx="10058400" cy="365760"/>
          </a:xfrm>
          <a:prstGeom prst="rect">
            <a:avLst/>
          </a:prstGeom>
          <a:noFill/>
          <a:ln/>
        </p:spPr>
        <p:txBody>
          <a:bodyPr wrap="square" rtlCol="0" anchor="ctr"/>
          <a:lstStyle/>
          <a:p>
            <a:pPr indent="0" marL="0">
              <a:buNone/>
            </a:pPr>
            <a:r>
              <a:rPr lang="en-US" sz="1400" b="1" spc="200" kern="0" dirty="0">
                <a:solidFill>
                  <a:srgbClr val="B23A48"/>
                </a:solidFill>
                <a:latin typeface="Calibri" pitchFamily="34" charset="0"/>
                <a:ea typeface="Calibri" pitchFamily="34" charset="-122"/>
                <a:cs typeface="Calibri" pitchFamily="34" charset="-120"/>
              </a:rPr>
              <a:t>EL HALLAZGO QUE SÍ VALE VENDER</a:t>
            </a:r>
            <a:endParaRPr lang="en-US" sz="1400" dirty="0"/>
          </a:p>
        </p:txBody>
      </p:sp>
      <p:sp>
        <p:nvSpPr>
          <p:cNvPr id="4" name="Text 2"/>
          <p:cNvSpPr/>
          <p:nvPr/>
        </p:nvSpPr>
        <p:spPr>
          <a:xfrm>
            <a:off x="822960" y="1143000"/>
            <a:ext cx="9875520" cy="82296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¿Puede un modelo delatar la zona de residencia de un solicitante sin que esa variable exista?</a:t>
            </a:r>
            <a:endParaRPr lang="en-US" sz="2400" dirty="0"/>
          </a:p>
        </p:txBody>
      </p:sp>
      <p:sp>
        <p:nvSpPr>
          <p:cNvPr id="5" name="Text 3"/>
          <p:cNvSpPr/>
          <p:nvPr/>
        </p:nvSpPr>
        <p:spPr>
          <a:xfrm>
            <a:off x="822960" y="2377440"/>
            <a:ext cx="4206240" cy="1463040"/>
          </a:xfrm>
          <a:prstGeom prst="rect">
            <a:avLst/>
          </a:prstGeom>
          <a:noFill/>
          <a:ln/>
        </p:spPr>
        <p:txBody>
          <a:bodyPr wrap="square" rtlCol="0" anchor="ctr"/>
          <a:lstStyle/>
          <a:p>
            <a:pPr algn="ctr" indent="0" marL="0">
              <a:buNone/>
            </a:pPr>
            <a:r>
              <a:rPr lang="en-US" sz="9000" b="1" dirty="0">
                <a:solidFill>
                  <a:srgbClr val="7C8FC7"/>
                </a:solidFill>
                <a:latin typeface="Cambria" pitchFamily="34" charset="0"/>
                <a:ea typeface="Cambria" pitchFamily="34" charset="-122"/>
                <a:cs typeface="Cambria" pitchFamily="34" charset="-120"/>
              </a:rPr>
              <a:t>1.00</a:t>
            </a:r>
            <a:endParaRPr lang="en-US" sz="9000" dirty="0"/>
          </a:p>
        </p:txBody>
      </p:sp>
      <p:sp>
        <p:nvSpPr>
          <p:cNvPr id="6" name="Text 4"/>
          <p:cNvSpPr/>
          <p:nvPr/>
        </p:nvSpPr>
        <p:spPr>
          <a:xfrm>
            <a:off x="822960" y="3840480"/>
            <a:ext cx="4206240" cy="640080"/>
          </a:xfrm>
          <a:prstGeom prst="rect">
            <a:avLst/>
          </a:prstGeom>
          <a:noFill/>
          <a:ln/>
        </p:spPr>
        <p:txBody>
          <a:bodyPr wrap="square" rtlCol="0" anchor="ctr"/>
          <a:lstStyle/>
          <a:p>
            <a:pPr algn="ctr" indent="0" marL="0">
              <a:buNone/>
            </a:pPr>
            <a:r>
              <a:rPr lang="en-US" sz="1400" dirty="0">
                <a:solidFill>
                  <a:srgbClr val="CADCFC"/>
                </a:solidFill>
                <a:latin typeface="Calibri" pitchFamily="34" charset="0"/>
                <a:ea typeface="Calibri" pitchFamily="34" charset="-122"/>
                <a:cs typeface="Calibri" pitchFamily="34" charset="-120"/>
              </a:rPr>
              <a:t>con todas las variables</a:t>
            </a:r>
            <a:endParaRPr lang="en-US" sz="1400" dirty="0"/>
          </a:p>
          <a:p>
            <a:pPr algn="ctr" indent="0" marL="0">
              <a:buNone/>
            </a:pPr>
            <a:r>
              <a:rPr lang="en-US" sz="1400" dirty="0">
                <a:solidFill>
                  <a:srgbClr val="CADCFC"/>
                </a:solidFill>
                <a:latin typeface="Calibri" pitchFamily="34" charset="0"/>
                <a:ea typeface="Calibri" pitchFamily="34" charset="-122"/>
                <a:cs typeface="Calibri" pitchFamily="34" charset="-120"/>
              </a:rPr>
              <a:t>o con LASSO</a:t>
            </a:r>
            <a:endParaRPr lang="en-US" sz="1400" dirty="0"/>
          </a:p>
        </p:txBody>
      </p:sp>
      <p:sp>
        <p:nvSpPr>
          <p:cNvPr id="7" name="Text 5"/>
          <p:cNvSpPr/>
          <p:nvPr/>
        </p:nvSpPr>
        <p:spPr>
          <a:xfrm>
            <a:off x="5166360" y="2606040"/>
            <a:ext cx="1188720" cy="1188720"/>
          </a:xfrm>
          <a:prstGeom prst="rect">
            <a:avLst/>
          </a:prstGeom>
          <a:noFill/>
          <a:ln/>
        </p:spPr>
        <p:txBody>
          <a:bodyPr wrap="square" rtlCol="0" anchor="ctr"/>
          <a:lstStyle/>
          <a:p>
            <a:pPr algn="ctr" indent="0" marL="0">
              <a:buNone/>
            </a:pPr>
            <a:r>
              <a:rPr lang="en-US" sz="6000" b="1" dirty="0">
                <a:solidFill>
                  <a:srgbClr val="B23A48"/>
                </a:solidFill>
                <a:latin typeface="Cambria" pitchFamily="34" charset="0"/>
                <a:ea typeface="Cambria" pitchFamily="34" charset="-122"/>
                <a:cs typeface="Cambria" pitchFamily="34" charset="-120"/>
              </a:rPr>
              <a:t>→</a:t>
            </a:r>
            <a:endParaRPr lang="en-US" sz="6000" dirty="0"/>
          </a:p>
        </p:txBody>
      </p:sp>
      <p:sp>
        <p:nvSpPr>
          <p:cNvPr id="8" name="Text 6"/>
          <p:cNvSpPr/>
          <p:nvPr/>
        </p:nvSpPr>
        <p:spPr>
          <a:xfrm>
            <a:off x="6492240" y="2377440"/>
            <a:ext cx="4206240" cy="1463040"/>
          </a:xfrm>
          <a:prstGeom prst="rect">
            <a:avLst/>
          </a:prstGeom>
          <a:noFill/>
          <a:ln/>
        </p:spPr>
        <p:txBody>
          <a:bodyPr wrap="square" rtlCol="0" anchor="ctr"/>
          <a:lstStyle/>
          <a:p>
            <a:pPr algn="ctr" indent="0" marL="0">
              <a:buNone/>
            </a:pPr>
            <a:r>
              <a:rPr lang="en-US" sz="9000" b="1" dirty="0">
                <a:solidFill>
                  <a:srgbClr val="B23A48"/>
                </a:solidFill>
                <a:latin typeface="Cambria" pitchFamily="34" charset="0"/>
                <a:ea typeface="Cambria" pitchFamily="34" charset="-122"/>
                <a:cs typeface="Cambria" pitchFamily="34" charset="-120"/>
              </a:rPr>
              <a:t>0.61</a:t>
            </a:r>
            <a:endParaRPr lang="en-US" sz="9000" dirty="0"/>
          </a:p>
        </p:txBody>
      </p:sp>
      <p:sp>
        <p:nvSpPr>
          <p:cNvPr id="9" name="Text 7"/>
          <p:cNvSpPr/>
          <p:nvPr/>
        </p:nvSpPr>
        <p:spPr>
          <a:xfrm>
            <a:off x="6492240" y="3840480"/>
            <a:ext cx="4206240" cy="640080"/>
          </a:xfrm>
          <a:prstGeom prst="rect">
            <a:avLst/>
          </a:prstGeom>
          <a:noFill/>
          <a:ln/>
        </p:spPr>
        <p:txBody>
          <a:bodyPr wrap="square" rtlCol="0" anchor="ctr"/>
          <a:lstStyle/>
          <a:p>
            <a:pPr algn="ctr" indent="0" marL="0">
              <a:buNone/>
            </a:pPr>
            <a:r>
              <a:rPr lang="en-US" sz="1400" dirty="0">
                <a:solidFill>
                  <a:srgbClr val="CADCFC"/>
                </a:solidFill>
                <a:latin typeface="Calibri" pitchFamily="34" charset="0"/>
                <a:ea typeface="Calibri" pitchFamily="34" charset="-122"/>
                <a:cs typeface="Calibri" pitchFamily="34" charset="-120"/>
              </a:rPr>
              <a:t>con la selección QUBO</a:t>
            </a:r>
            <a:endParaRPr lang="en-US" sz="1400" dirty="0"/>
          </a:p>
          <a:p>
            <a:pPr algn="ctr" indent="0" marL="0">
              <a:buNone/>
            </a:pPr>
            <a:r>
              <a:rPr lang="en-US" sz="1400" dirty="0">
                <a:solidFill>
                  <a:srgbClr val="CADCFC"/>
                </a:solidFill>
                <a:latin typeface="Calibri" pitchFamily="34" charset="0"/>
                <a:ea typeface="Calibri" pitchFamily="34" charset="-122"/>
                <a:cs typeface="Calibri" pitchFamily="34" charset="-120"/>
              </a:rPr>
              <a:t>(8 variables)</a:t>
            </a:r>
            <a:endParaRPr lang="en-US" sz="1400" dirty="0"/>
          </a:p>
        </p:txBody>
      </p:sp>
      <p:sp>
        <p:nvSpPr>
          <p:cNvPr id="10" name="Text 8"/>
          <p:cNvSpPr/>
          <p:nvPr/>
        </p:nvSpPr>
        <p:spPr>
          <a:xfrm>
            <a:off x="822960" y="5212080"/>
            <a:ext cx="9875520" cy="548640"/>
          </a:xfrm>
          <a:prstGeom prst="rect">
            <a:avLst/>
          </a:prstGeom>
          <a:noFill/>
          <a:ln/>
        </p:spPr>
        <p:txBody>
          <a:bodyPr wrap="square" rtlCol="0" anchor="ctr"/>
          <a:lstStyle/>
          <a:p>
            <a:pPr indent="0" marL="0">
              <a:buNone/>
            </a:pPr>
            <a:r>
              <a:rPr lang="en-US" sz="1200" i="1" dirty="0">
                <a:solidFill>
                  <a:srgbClr val="9FB3E8"/>
                </a:solidFill>
                <a:latin typeface="Calibri" pitchFamily="34" charset="0"/>
                <a:ea typeface="Calibri" pitchFamily="34" charset="-122"/>
                <a:cs typeface="Calibri" pitchFamily="34" charset="-120"/>
              </a:rPr>
              <a:t>AUC de un clasificador auxiliar prediciendo "zona de residencia" a partir SOLO de las variables seleccionadas para el crédito. 0,50 = sin codificación · 1,00 = codificación perfecta.</a:t>
            </a:r>
            <a:endParaRPr lang="en-US" sz="1200" dirty="0"/>
          </a:p>
        </p:txBody>
      </p:sp>
      <p:sp>
        <p:nvSpPr>
          <p:cNvPr id="11" name="Text 9"/>
          <p:cNvSpPr/>
          <p:nvPr/>
        </p:nvSpPr>
        <p:spPr>
          <a:xfrm>
            <a:off x="822960" y="5806440"/>
            <a:ext cx="987552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Simplemente por usar menos variables, menos redundantes entre sí, se cortan la mayoría de las rutas indirectas hacia el atributo protegido.</a:t>
            </a:r>
            <a:endParaRPr lang="en-US" sz="1300" dirty="0"/>
          </a:p>
        </p:txBody>
      </p:sp>
      <p:sp>
        <p:nvSpPr>
          <p:cNvPr id="12" name="Text 10"/>
          <p:cNvSpPr/>
          <p:nvPr/>
        </p:nvSpPr>
        <p:spPr>
          <a:xfrm>
            <a:off x="11521440" y="6446520"/>
            <a:ext cx="548640" cy="274320"/>
          </a:xfrm>
          <a:prstGeom prst="rect">
            <a:avLst/>
          </a:prstGeom>
          <a:noFill/>
          <a:ln/>
        </p:spPr>
        <p:txBody>
          <a:bodyPr wrap="square" rtlCol="0" anchor="ctr"/>
          <a:lstStyle/>
          <a:p>
            <a:pPr algn="r" indent="0" marL="0">
              <a:buNone/>
            </a:pPr>
            <a:r>
              <a:rPr lang="en-US" sz="1000" dirty="0">
                <a:solidFill>
                  <a:srgbClr val="7C8FC7"/>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200" b="1" spc="200" kern="0" dirty="0">
                <a:solidFill>
                  <a:srgbClr val="B23A48"/>
                </a:solidFill>
                <a:latin typeface="Calibri" pitchFamily="34" charset="0"/>
                <a:ea typeface="Calibri" pitchFamily="34" charset="-122"/>
                <a:cs typeface="Calibri" pitchFamily="34" charset="-120"/>
              </a:rPr>
              <a:t>EL ARGUMENTO REGULATORIO</a:t>
            </a:r>
            <a:endParaRPr lang="en-US" sz="12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Lo que esto significa frente a la SEPS</a:t>
            </a:r>
            <a:endParaRPr lang="en-US" sz="3000" dirty="0"/>
          </a:p>
        </p:txBody>
      </p:sp>
      <p:sp>
        <p:nvSpPr>
          <p:cNvPr id="4" name="Shape 2"/>
          <p:cNvSpPr/>
          <p:nvPr/>
        </p:nvSpPr>
        <p:spPr>
          <a:xfrm>
            <a:off x="548640" y="1691640"/>
            <a:ext cx="5212080" cy="3931920"/>
          </a:xfrm>
          <a:prstGeom prst="roundRect">
            <a:avLst>
              <a:gd name="adj" fmla="val 2791"/>
            </a:avLst>
          </a:prstGeom>
          <a:solidFill>
            <a:srgbClr val="F3F5FC"/>
          </a:solidFill>
          <a:ln/>
        </p:spPr>
      </p:sp>
      <p:sp>
        <p:nvSpPr>
          <p:cNvPr id="5" name="Text 3"/>
          <p:cNvSpPr/>
          <p:nvPr/>
        </p:nvSpPr>
        <p:spPr>
          <a:xfrm>
            <a:off x="822960" y="1920240"/>
            <a:ext cx="4663440" cy="822960"/>
          </a:xfrm>
          <a:prstGeom prst="rect">
            <a:avLst/>
          </a:prstGeom>
          <a:noFill/>
          <a:ln/>
        </p:spPr>
        <p:txBody>
          <a:bodyPr wrap="square"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La selección es opaca.</a:t>
            </a:r>
            <a:endParaRPr lang="en-US" sz="1700" dirty="0"/>
          </a:p>
          <a:p>
            <a:pPr indent="0" marL="0">
              <a:buNone/>
            </a:pPr>
            <a:r>
              <a:rPr lang="en-US" sz="1700" b="1" dirty="0">
                <a:solidFill>
                  <a:srgbClr val="1E2761"/>
                </a:solidFill>
                <a:latin typeface="Cambria" pitchFamily="34" charset="0"/>
                <a:ea typeface="Cambria" pitchFamily="34" charset="-122"/>
                <a:cs typeface="Cambria" pitchFamily="34" charset="-120"/>
              </a:rPr>
              <a:t>El modelo no tiene que serlo.</a:t>
            </a:r>
            <a:endParaRPr lang="en-US" sz="1700" dirty="0"/>
          </a:p>
        </p:txBody>
      </p:sp>
      <p:sp>
        <p:nvSpPr>
          <p:cNvPr id="6" name="Text 4"/>
          <p:cNvSpPr/>
          <p:nvPr/>
        </p:nvSpPr>
        <p:spPr>
          <a:xfrm>
            <a:off x="822960" y="2788920"/>
            <a:ext cx="4663440" cy="1371600"/>
          </a:xfrm>
          <a:prstGeom prst="rect">
            <a:avLst/>
          </a:prstGeom>
          <a:noFill/>
          <a:ln/>
        </p:spPr>
        <p:txBody>
          <a:bodyPr wrap="square" rtlCol="0" anchor="ctr"/>
          <a:lstStyle/>
          <a:p>
            <a:pPr indent="0" marL="0">
              <a:buNone/>
            </a:pPr>
            <a:r>
              <a:rPr lang="en-US" sz="1300" dirty="0">
                <a:solidFill>
                  <a:srgbClr val="1F2937"/>
                </a:solidFill>
                <a:latin typeface="Calibri" pitchFamily="34" charset="0"/>
                <a:ea typeface="Calibri" pitchFamily="34" charset="-122"/>
                <a:cs typeface="Calibri" pitchFamily="34" charset="-120"/>
              </a:rPr>
              <a:t>Explicar por qué el optimizador eligió esas 8 variables y no otras es difícil. Pero una regresión logística sobre esas 8 variables es perfectamente auditable: cada coeficiente se explica al socio.</a:t>
            </a:r>
            <a:endParaRPr lang="en-US" sz="1300" dirty="0"/>
          </a:p>
        </p:txBody>
      </p:sp>
      <p:sp>
        <p:nvSpPr>
          <p:cNvPr id="7" name="Text 5"/>
          <p:cNvSpPr/>
          <p:nvPr/>
        </p:nvSpPr>
        <p:spPr>
          <a:xfrm>
            <a:off x="822960" y="4297680"/>
            <a:ext cx="4663440" cy="1097280"/>
          </a:xfrm>
          <a:prstGeom prst="rect">
            <a:avLst/>
          </a:prstGeom>
          <a:noFill/>
          <a:ln/>
        </p:spPr>
        <p:txBody>
          <a:bodyPr wrap="square" rtlCol="0" anchor="ctr"/>
          <a:lstStyle/>
          <a:p>
            <a:pPr indent="0" marL="0">
              <a:buNone/>
            </a:pPr>
            <a:r>
              <a:rPr lang="en-US" sz="1350" i="1" dirty="0">
                <a:solidFill>
                  <a:srgbClr val="B23A48"/>
                </a:solidFill>
                <a:latin typeface="Cambria" pitchFamily="34" charset="0"/>
                <a:ea typeface="Cambria" pitchFamily="34" charset="-122"/>
                <a:cs typeface="Cambria" pitchFamily="34" charset="-120"/>
              </a:rPr>
              <a:t>“QUBO + logística es más defendible ante el supervisor que XGBoost con 45 variables.”</a:t>
            </a:r>
            <a:endParaRPr lang="en-US" sz="1350" dirty="0"/>
          </a:p>
        </p:txBody>
      </p:sp>
      <p:sp>
        <p:nvSpPr>
          <p:cNvPr id="8" name="Shape 6"/>
          <p:cNvSpPr/>
          <p:nvPr/>
        </p:nvSpPr>
        <p:spPr>
          <a:xfrm>
            <a:off x="5989320" y="1691640"/>
            <a:ext cx="5669280" cy="3931920"/>
          </a:xfrm>
          <a:prstGeom prst="roundRect">
            <a:avLst>
              <a:gd name="adj" fmla="val 2791"/>
            </a:avLst>
          </a:prstGeom>
          <a:solidFill>
            <a:srgbClr val="F3F5FC"/>
          </a:solidFill>
          <a:ln/>
        </p:spPr>
      </p:sp>
      <p:sp>
        <p:nvSpPr>
          <p:cNvPr id="9" name="Text 7"/>
          <p:cNvSpPr/>
          <p:nvPr/>
        </p:nvSpPr>
        <p:spPr>
          <a:xfrm>
            <a:off x="6263640" y="1874520"/>
            <a:ext cx="5120640" cy="274320"/>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Parsimonia</a:t>
            </a:r>
            <a:endParaRPr lang="en-US" sz="1300" dirty="0"/>
          </a:p>
        </p:txBody>
      </p:sp>
      <p:sp>
        <p:nvSpPr>
          <p:cNvPr id="10" name="Text 8"/>
          <p:cNvSpPr/>
          <p:nvPr/>
        </p:nvSpPr>
        <p:spPr>
          <a:xfrm>
            <a:off x="6263640" y="2167128"/>
            <a:ext cx="5120640" cy="594360"/>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8-12 variables vs. 18-45 — expediente más simple, menos consultas al buró.</a:t>
            </a:r>
            <a:endParaRPr lang="en-US" sz="1150" dirty="0"/>
          </a:p>
        </p:txBody>
      </p:sp>
      <p:sp>
        <p:nvSpPr>
          <p:cNvPr id="11" name="Text 9"/>
          <p:cNvSpPr/>
          <p:nvPr/>
        </p:nvSpPr>
        <p:spPr>
          <a:xfrm>
            <a:off x="6263640" y="2807208"/>
            <a:ext cx="5120640" cy="274320"/>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Sesgo indirecto</a:t>
            </a:r>
            <a:endParaRPr lang="en-US" sz="1300" dirty="0"/>
          </a:p>
        </p:txBody>
      </p:sp>
      <p:sp>
        <p:nvSpPr>
          <p:cNvPr id="12" name="Text 10"/>
          <p:cNvSpPr/>
          <p:nvPr/>
        </p:nvSpPr>
        <p:spPr>
          <a:xfrm>
            <a:off x="6263640" y="3099816"/>
            <a:ext cx="5120640" cy="594360"/>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AUC_proxy de zona de residencia cae de 1,00 a 0,61.</a:t>
            </a:r>
            <a:endParaRPr lang="en-US" sz="1150" dirty="0"/>
          </a:p>
        </p:txBody>
      </p:sp>
      <p:sp>
        <p:nvSpPr>
          <p:cNvPr id="13" name="Text 11"/>
          <p:cNvSpPr/>
          <p:nvPr/>
        </p:nvSpPr>
        <p:spPr>
          <a:xfrm>
            <a:off x="6263640" y="3739896"/>
            <a:ext cx="5120640" cy="274320"/>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Verificación</a:t>
            </a:r>
            <a:endParaRPr lang="en-US" sz="1300" dirty="0"/>
          </a:p>
        </p:txBody>
      </p:sp>
      <p:sp>
        <p:nvSpPr>
          <p:cNvPr id="14" name="Text 12"/>
          <p:cNvSpPr/>
          <p:nvPr/>
        </p:nvSpPr>
        <p:spPr>
          <a:xfrm>
            <a:off x="6263640" y="4032504"/>
            <a:ext cx="5120640" cy="594360"/>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Óptimo certificado por MILP, no solo un heurístico sin garantías.</a:t>
            </a:r>
            <a:endParaRPr lang="en-US" sz="1150" dirty="0"/>
          </a:p>
        </p:txBody>
      </p:sp>
      <p:sp>
        <p:nvSpPr>
          <p:cNvPr id="15" name="Text 13"/>
          <p:cNvSpPr/>
          <p:nvPr/>
        </p:nvSpPr>
        <p:spPr>
          <a:xfrm>
            <a:off x="6263640" y="4672584"/>
            <a:ext cx="5120640" cy="274320"/>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El costo, con números</a:t>
            </a:r>
            <a:endParaRPr lang="en-US" sz="1300" dirty="0"/>
          </a:p>
        </p:txBody>
      </p:sp>
      <p:sp>
        <p:nvSpPr>
          <p:cNvPr id="16" name="Text 14"/>
          <p:cNvSpPr/>
          <p:nvPr/>
        </p:nvSpPr>
        <p:spPr>
          <a:xfrm>
            <a:off x="6263640" y="4965192"/>
            <a:ext cx="5120640" cy="594360"/>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Si la ganancia de AUC es 0,003 y hay que justificar un optimizador combinatorio ante el regulador, la recomendación honesta puede ser no adoptarlo — y este framework es lo que permite decidirlo con datos.</a:t>
            </a:r>
            <a:endParaRPr lang="en-US" sz="1150" dirty="0"/>
          </a:p>
        </p:txBody>
      </p:sp>
      <p:sp>
        <p:nvSpPr>
          <p:cNvPr id="17" name="Text 15"/>
          <p:cNvSpPr/>
          <p:nvPr/>
        </p:nvSpPr>
        <p:spPr>
          <a:xfrm>
            <a:off x="11521440" y="6446520"/>
            <a:ext cx="5486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200" b="1" spc="200" kern="0" dirty="0">
                <a:solidFill>
                  <a:srgbClr val="B23A48"/>
                </a:solidFill>
                <a:latin typeface="Calibri" pitchFamily="34" charset="0"/>
                <a:ea typeface="Calibri" pitchFamily="34" charset="-122"/>
                <a:cs typeface="Calibri" pitchFamily="34" charset="-120"/>
              </a:rPr>
              <a:t>HONESTIDAD ANTE TODO</a:t>
            </a:r>
            <a:endParaRPr lang="en-US" sz="12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Lo que este prototipo todavía no resuelve</a:t>
            </a:r>
            <a:endParaRPr lang="en-US" sz="3000" dirty="0"/>
          </a:p>
        </p:txBody>
      </p:sp>
      <p:sp>
        <p:nvSpPr>
          <p:cNvPr id="4" name="Shape 2"/>
          <p:cNvSpPr/>
          <p:nvPr/>
        </p:nvSpPr>
        <p:spPr>
          <a:xfrm>
            <a:off x="640080" y="1901952"/>
            <a:ext cx="128016" cy="128016"/>
          </a:xfrm>
          <a:prstGeom prst="rect">
            <a:avLst/>
          </a:prstGeom>
          <a:solidFill>
            <a:srgbClr val="B23A48"/>
          </a:solidFill>
          <a:ln/>
        </p:spPr>
      </p:sp>
      <p:sp>
        <p:nvSpPr>
          <p:cNvPr id="5" name="Text 3"/>
          <p:cNvSpPr/>
          <p:nvPr/>
        </p:nvSpPr>
        <p:spPr>
          <a:xfrm>
            <a:off x="960120" y="1828800"/>
            <a:ext cx="10332720" cy="685800"/>
          </a:xfrm>
          <a:prstGeom prst="rect">
            <a:avLst/>
          </a:prstGeom>
          <a:noFill/>
          <a:ln/>
        </p:spPr>
        <p:txBody>
          <a:bodyPr wrap="square" rtlCol="0" anchor="ctr"/>
          <a:lstStyle/>
          <a:p>
            <a:pPr indent="0" marL="0">
              <a:buNone/>
            </a:pPr>
            <a:r>
              <a:rPr lang="en-US" sz="1400" dirty="0">
                <a:solidFill>
                  <a:srgbClr val="1F2937"/>
                </a:solidFill>
                <a:latin typeface="Calibri" pitchFamily="34" charset="0"/>
                <a:ea typeface="Calibri" pitchFamily="34" charset="-122"/>
                <a:cs typeface="Calibri" pitchFamily="34" charset="-120"/>
              </a:rPr>
              <a:t>Datos sintéticos: mide recuperar una estructura que nosotros diseñamos, no el riesgo real de crédito en Ecuador.</a:t>
            </a:r>
            <a:endParaRPr lang="en-US" sz="1400" dirty="0"/>
          </a:p>
        </p:txBody>
      </p:sp>
      <p:sp>
        <p:nvSpPr>
          <p:cNvPr id="6" name="Shape 4"/>
          <p:cNvSpPr/>
          <p:nvPr/>
        </p:nvSpPr>
        <p:spPr>
          <a:xfrm>
            <a:off x="640080" y="2953512"/>
            <a:ext cx="128016" cy="128016"/>
          </a:xfrm>
          <a:prstGeom prst="rect">
            <a:avLst/>
          </a:prstGeom>
          <a:solidFill>
            <a:srgbClr val="B23A48"/>
          </a:solidFill>
          <a:ln/>
        </p:spPr>
      </p:sp>
      <p:sp>
        <p:nvSpPr>
          <p:cNvPr id="7" name="Text 5"/>
          <p:cNvSpPr/>
          <p:nvPr/>
        </p:nvSpPr>
        <p:spPr>
          <a:xfrm>
            <a:off x="960120" y="2880360"/>
            <a:ext cx="10332720" cy="685800"/>
          </a:xfrm>
          <a:prstGeom prst="rect">
            <a:avLst/>
          </a:prstGeom>
          <a:noFill/>
          <a:ln/>
        </p:spPr>
        <p:txBody>
          <a:bodyPr wrap="square" rtlCol="0" anchor="ctr"/>
          <a:lstStyle/>
          <a:p>
            <a:pPr indent="0" marL="0">
              <a:buNone/>
            </a:pPr>
            <a:r>
              <a:rPr lang="en-US" sz="1400" dirty="0">
                <a:solidFill>
                  <a:srgbClr val="1F2937"/>
                </a:solidFill>
                <a:latin typeface="Calibri" pitchFamily="34" charset="0"/>
                <a:ea typeface="Calibri" pitchFamily="34" charset="-122"/>
                <a:cs typeface="Calibri" pitchFamily="34" charset="-120"/>
              </a:rPr>
              <a:t>El criterio de selección tiene una vulnerabilidad diagnosticada en 45 variables (trampa de ruido) — con causa conocida, sin parche rápido validado todavía.</a:t>
            </a:r>
            <a:endParaRPr lang="en-US" sz="1400" dirty="0"/>
          </a:p>
        </p:txBody>
      </p:sp>
      <p:sp>
        <p:nvSpPr>
          <p:cNvPr id="8" name="Shape 6"/>
          <p:cNvSpPr/>
          <p:nvPr/>
        </p:nvSpPr>
        <p:spPr>
          <a:xfrm>
            <a:off x="640080" y="4005072"/>
            <a:ext cx="128016" cy="128016"/>
          </a:xfrm>
          <a:prstGeom prst="rect">
            <a:avLst/>
          </a:prstGeom>
          <a:solidFill>
            <a:srgbClr val="B23A48"/>
          </a:solidFill>
          <a:ln/>
        </p:spPr>
      </p:sp>
      <p:sp>
        <p:nvSpPr>
          <p:cNvPr id="9" name="Text 7"/>
          <p:cNvSpPr/>
          <p:nvPr/>
        </p:nvSpPr>
        <p:spPr>
          <a:xfrm>
            <a:off x="960120" y="3931920"/>
            <a:ext cx="10332720" cy="685800"/>
          </a:xfrm>
          <a:prstGeom prst="rect">
            <a:avLst/>
          </a:prstGeom>
          <a:noFill/>
          <a:ln/>
        </p:spPr>
        <p:txBody>
          <a:bodyPr wrap="square" rtlCol="0" anchor="ctr"/>
          <a:lstStyle/>
          <a:p>
            <a:pPr indent="0" marL="0">
              <a:buNone/>
            </a:pPr>
            <a:r>
              <a:rPr lang="en-US" sz="1400" dirty="0">
                <a:solidFill>
                  <a:srgbClr val="1F2937"/>
                </a:solidFill>
                <a:latin typeface="Calibri" pitchFamily="34" charset="0"/>
                <a:ea typeface="Calibri" pitchFamily="34" charset="-122"/>
                <a:cs typeface="Calibri" pitchFamily="34" charset="-120"/>
              </a:rPr>
              <a:t>El circuito cuántico simulado no aporta ninguna ventaja de tiempo ni de calidad en este problema — y es físicamente imposible de simular en la escala de 45 variables.</a:t>
            </a:r>
            <a:endParaRPr lang="en-US" sz="1400" dirty="0"/>
          </a:p>
        </p:txBody>
      </p:sp>
      <p:sp>
        <p:nvSpPr>
          <p:cNvPr id="10" name="Shape 8"/>
          <p:cNvSpPr/>
          <p:nvPr/>
        </p:nvSpPr>
        <p:spPr>
          <a:xfrm>
            <a:off x="640080" y="5056632"/>
            <a:ext cx="128016" cy="128016"/>
          </a:xfrm>
          <a:prstGeom prst="rect">
            <a:avLst/>
          </a:prstGeom>
          <a:solidFill>
            <a:srgbClr val="B23A48"/>
          </a:solidFill>
          <a:ln/>
        </p:spPr>
      </p:sp>
      <p:sp>
        <p:nvSpPr>
          <p:cNvPr id="11" name="Text 9"/>
          <p:cNvSpPr/>
          <p:nvPr/>
        </p:nvSpPr>
        <p:spPr>
          <a:xfrm>
            <a:off x="960120" y="4983480"/>
            <a:ext cx="10332720" cy="685800"/>
          </a:xfrm>
          <a:prstGeom prst="rect">
            <a:avLst/>
          </a:prstGeom>
          <a:noFill/>
          <a:ln/>
        </p:spPr>
        <p:txBody>
          <a:bodyPr wrap="square" rtlCol="0" anchor="ctr"/>
          <a:lstStyle/>
          <a:p>
            <a:pPr indent="0" marL="0">
              <a:buNone/>
            </a:pPr>
            <a:r>
              <a:rPr lang="en-US" sz="1400" dirty="0">
                <a:solidFill>
                  <a:srgbClr val="1F2937"/>
                </a:solidFill>
                <a:latin typeface="Calibri" pitchFamily="34" charset="0"/>
                <a:ea typeface="Calibri" pitchFamily="34" charset="-122"/>
                <a:cs typeface="Calibri" pitchFamily="34" charset="-120"/>
              </a:rPr>
              <a:t>La auditoría de equidad mide propagación de sesgo sobre datos sintéticos con sesgo inyectado por diseño, no el sesgo real del crédito ecuatoriano.</a:t>
            </a:r>
            <a:endParaRPr lang="en-US" sz="1400" dirty="0"/>
          </a:p>
        </p:txBody>
      </p:sp>
      <p:sp>
        <p:nvSpPr>
          <p:cNvPr id="12" name="Text 10"/>
          <p:cNvSpPr/>
          <p:nvPr/>
        </p:nvSpPr>
        <p:spPr>
          <a:xfrm>
            <a:off x="640080" y="5989320"/>
            <a:ext cx="10332720" cy="457200"/>
          </a:xfrm>
          <a:prstGeom prst="rect">
            <a:avLst/>
          </a:prstGeom>
          <a:noFill/>
          <a:ln/>
        </p:spPr>
        <p:txBody>
          <a:bodyPr wrap="square"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Un prototipo que declara sus límites con la misma precisión que sus resultados es más creíble, no menos.</a:t>
            </a:r>
            <a:endParaRPr lang="en-US" sz="1300" dirty="0"/>
          </a:p>
        </p:txBody>
      </p:sp>
      <p:sp>
        <p:nvSpPr>
          <p:cNvPr id="13" name="Text 11"/>
          <p:cNvSpPr/>
          <p:nvPr/>
        </p:nvSpPr>
        <p:spPr>
          <a:xfrm>
            <a:off x="11521440" y="6446520"/>
            <a:ext cx="5486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200" b="1" spc="200" kern="0" dirty="0">
                <a:solidFill>
                  <a:srgbClr val="B23A48"/>
                </a:solidFill>
                <a:latin typeface="Calibri" pitchFamily="34" charset="0"/>
                <a:ea typeface="Calibri" pitchFamily="34" charset="-122"/>
                <a:cs typeface="Calibri" pitchFamily="34" charset="-120"/>
              </a:rPr>
              <a:t>PRÓXIMOS PASOS</a:t>
            </a:r>
            <a:endParaRPr lang="en-US" sz="12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De prototipo académico a herramienta piloteable</a:t>
            </a:r>
            <a:endParaRPr lang="en-US" sz="3000" dirty="0"/>
          </a:p>
        </p:txBody>
      </p:sp>
      <p:sp>
        <p:nvSpPr>
          <p:cNvPr id="4" name="Shape 2"/>
          <p:cNvSpPr/>
          <p:nvPr/>
        </p:nvSpPr>
        <p:spPr>
          <a:xfrm>
            <a:off x="548640" y="2011680"/>
            <a:ext cx="3429000" cy="3383280"/>
          </a:xfrm>
          <a:prstGeom prst="roundRect">
            <a:avLst>
              <a:gd name="adj" fmla="val 3243"/>
            </a:avLst>
          </a:prstGeom>
          <a:solidFill>
            <a:srgbClr val="F3F5FC"/>
          </a:solidFill>
          <a:ln/>
        </p:spPr>
      </p:sp>
      <p:sp>
        <p:nvSpPr>
          <p:cNvPr id="5" name="Text 3"/>
          <p:cNvSpPr/>
          <p:nvPr/>
        </p:nvSpPr>
        <p:spPr>
          <a:xfrm>
            <a:off x="777240" y="2240280"/>
            <a:ext cx="2971800" cy="411480"/>
          </a:xfrm>
          <a:prstGeom prst="rect">
            <a:avLst/>
          </a:prstGeom>
          <a:noFill/>
          <a:ln/>
        </p:spPr>
        <p:txBody>
          <a:bodyPr wrap="square" rtlCol="0" anchor="ctr"/>
          <a:lstStyle/>
          <a:p>
            <a:pPr indent="0" marL="0">
              <a:buNone/>
            </a:pPr>
            <a:r>
              <a:rPr lang="en-US" sz="2000" b="1" dirty="0">
                <a:solidFill>
                  <a:srgbClr val="B23A48"/>
                </a:solidFill>
                <a:latin typeface="Cambria" pitchFamily="34" charset="0"/>
                <a:ea typeface="Cambria" pitchFamily="34" charset="-122"/>
                <a:cs typeface="Cambria" pitchFamily="34" charset="-120"/>
              </a:rPr>
              <a:t>v1.1</a:t>
            </a:r>
            <a:endParaRPr lang="en-US" sz="2000" dirty="0"/>
          </a:p>
        </p:txBody>
      </p:sp>
      <p:sp>
        <p:nvSpPr>
          <p:cNvPr id="6" name="Text 4"/>
          <p:cNvSpPr/>
          <p:nvPr/>
        </p:nvSpPr>
        <p:spPr>
          <a:xfrm>
            <a:off x="777240" y="2788920"/>
            <a:ext cx="2971800" cy="77724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Estimador de relevancia robusto</a:t>
            </a:r>
            <a:endParaRPr lang="en-US" sz="1500" dirty="0"/>
          </a:p>
        </p:txBody>
      </p:sp>
      <p:sp>
        <p:nvSpPr>
          <p:cNvPr id="7" name="Text 5"/>
          <p:cNvSpPr/>
          <p:nvPr/>
        </p:nvSpPr>
        <p:spPr>
          <a:xfrm>
            <a:off x="777240" y="3611880"/>
            <a:ext cx="2971800" cy="1645920"/>
          </a:xfrm>
          <a:prstGeom prst="rect">
            <a:avLst/>
          </a:prstGeom>
          <a:noFill/>
          <a:ln/>
        </p:spPr>
        <p:txBody>
          <a:bodyPr wrap="square" rtlCol="0" anchor="ctr"/>
          <a:lstStyle/>
          <a:p>
            <a:pPr indent="0" marL="0">
              <a:buNone/>
            </a:pPr>
            <a:r>
              <a:rPr lang="en-US" sz="1250" dirty="0">
                <a:solidFill>
                  <a:srgbClr val="1F2937"/>
                </a:solidFill>
                <a:latin typeface="Calibri" pitchFamily="34" charset="0"/>
                <a:ea typeface="Calibri" pitchFamily="34" charset="-122"/>
                <a:cs typeface="Calibri" pitchFamily="34" charset="-120"/>
              </a:rPr>
              <a:t>Reemplazar el estimador de vecinos por uno menos sensible a ruido en alta dimensión, cerrando la brecha de Nivel B.</a:t>
            </a:r>
            <a:endParaRPr lang="en-US" sz="1250" dirty="0"/>
          </a:p>
        </p:txBody>
      </p:sp>
      <p:sp>
        <p:nvSpPr>
          <p:cNvPr id="8" name="Shape 6"/>
          <p:cNvSpPr/>
          <p:nvPr/>
        </p:nvSpPr>
        <p:spPr>
          <a:xfrm>
            <a:off x="4297680" y="2011680"/>
            <a:ext cx="3429000" cy="3383280"/>
          </a:xfrm>
          <a:prstGeom prst="roundRect">
            <a:avLst>
              <a:gd name="adj" fmla="val 3243"/>
            </a:avLst>
          </a:prstGeom>
          <a:solidFill>
            <a:srgbClr val="F3F5FC"/>
          </a:solidFill>
          <a:ln/>
        </p:spPr>
      </p:sp>
      <p:sp>
        <p:nvSpPr>
          <p:cNvPr id="9" name="Text 7"/>
          <p:cNvSpPr/>
          <p:nvPr/>
        </p:nvSpPr>
        <p:spPr>
          <a:xfrm>
            <a:off x="4526280" y="2240280"/>
            <a:ext cx="2971800" cy="411480"/>
          </a:xfrm>
          <a:prstGeom prst="rect">
            <a:avLst/>
          </a:prstGeom>
          <a:noFill/>
          <a:ln/>
        </p:spPr>
        <p:txBody>
          <a:bodyPr wrap="square" rtlCol="0" anchor="ctr"/>
          <a:lstStyle/>
          <a:p>
            <a:pPr indent="0" marL="0">
              <a:buNone/>
            </a:pPr>
            <a:r>
              <a:rPr lang="en-US" sz="2000" b="1" dirty="0">
                <a:solidFill>
                  <a:srgbClr val="B23A48"/>
                </a:solidFill>
                <a:latin typeface="Cambria" pitchFamily="34" charset="0"/>
                <a:ea typeface="Cambria" pitchFamily="34" charset="-122"/>
                <a:cs typeface="Cambria" pitchFamily="34" charset="-120"/>
              </a:rPr>
              <a:t>v1.2</a:t>
            </a:r>
            <a:endParaRPr lang="en-US" sz="2000" dirty="0"/>
          </a:p>
        </p:txBody>
      </p:sp>
      <p:sp>
        <p:nvSpPr>
          <p:cNvPr id="10" name="Text 8"/>
          <p:cNvSpPr/>
          <p:nvPr/>
        </p:nvSpPr>
        <p:spPr>
          <a:xfrm>
            <a:off x="4526280" y="2788920"/>
            <a:ext cx="2971800" cy="77724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Piloto con datos reales anonimizados</a:t>
            </a:r>
            <a:endParaRPr lang="en-US" sz="1500" dirty="0"/>
          </a:p>
        </p:txBody>
      </p:sp>
      <p:sp>
        <p:nvSpPr>
          <p:cNvPr id="11" name="Text 9"/>
          <p:cNvSpPr/>
          <p:nvPr/>
        </p:nvSpPr>
        <p:spPr>
          <a:xfrm>
            <a:off x="4526280" y="3611880"/>
            <a:ext cx="2971800" cy="1645920"/>
          </a:xfrm>
          <a:prstGeom prst="rect">
            <a:avLst/>
          </a:prstGeom>
          <a:noFill/>
          <a:ln/>
        </p:spPr>
        <p:txBody>
          <a:bodyPr wrap="square" rtlCol="0" anchor="ctr"/>
          <a:lstStyle/>
          <a:p>
            <a:pPr indent="0" marL="0">
              <a:buNone/>
            </a:pPr>
            <a:r>
              <a:rPr lang="en-US" sz="1250" dirty="0">
                <a:solidFill>
                  <a:srgbClr val="1F2937"/>
                </a:solidFill>
                <a:latin typeface="Calibri" pitchFamily="34" charset="0"/>
                <a:ea typeface="Calibri" pitchFamily="34" charset="-122"/>
                <a:cs typeface="Calibri" pitchFamily="34" charset="-120"/>
              </a:rPr>
              <a:t>Convenio con una cooperativa SEPS para validar sobre cartera real, con el mismo framework de auditoría.</a:t>
            </a:r>
            <a:endParaRPr lang="en-US" sz="1250" dirty="0"/>
          </a:p>
        </p:txBody>
      </p:sp>
      <p:sp>
        <p:nvSpPr>
          <p:cNvPr id="12" name="Shape 10"/>
          <p:cNvSpPr/>
          <p:nvPr/>
        </p:nvSpPr>
        <p:spPr>
          <a:xfrm>
            <a:off x="8046720" y="2011680"/>
            <a:ext cx="3429000" cy="3383280"/>
          </a:xfrm>
          <a:prstGeom prst="roundRect">
            <a:avLst>
              <a:gd name="adj" fmla="val 3243"/>
            </a:avLst>
          </a:prstGeom>
          <a:solidFill>
            <a:srgbClr val="1E2761"/>
          </a:solidFill>
          <a:ln/>
        </p:spPr>
      </p:sp>
      <p:sp>
        <p:nvSpPr>
          <p:cNvPr id="13" name="Text 11"/>
          <p:cNvSpPr/>
          <p:nvPr/>
        </p:nvSpPr>
        <p:spPr>
          <a:xfrm>
            <a:off x="8275320" y="2240280"/>
            <a:ext cx="2971800" cy="411480"/>
          </a:xfrm>
          <a:prstGeom prst="rect">
            <a:avLst/>
          </a:prstGeom>
          <a:noFill/>
          <a:ln/>
        </p:spPr>
        <p:txBody>
          <a:bodyPr wrap="square" rtlCol="0" anchor="ctr"/>
          <a:lstStyle/>
          <a:p>
            <a:pPr indent="0" marL="0">
              <a:buNone/>
            </a:pPr>
            <a:r>
              <a:rPr lang="en-US" sz="2000" b="1" dirty="0">
                <a:solidFill>
                  <a:srgbClr val="B23A48"/>
                </a:solidFill>
                <a:latin typeface="Cambria" pitchFamily="34" charset="0"/>
                <a:ea typeface="Cambria" pitchFamily="34" charset="-122"/>
                <a:cs typeface="Cambria" pitchFamily="34" charset="-120"/>
              </a:rPr>
              <a:t>v2.0</a:t>
            </a:r>
            <a:endParaRPr lang="en-US" sz="2000" dirty="0"/>
          </a:p>
        </p:txBody>
      </p:sp>
      <p:sp>
        <p:nvSpPr>
          <p:cNvPr id="14" name="Text 12"/>
          <p:cNvSpPr/>
          <p:nvPr/>
        </p:nvSpPr>
        <p:spPr>
          <a:xfrm>
            <a:off x="8275320" y="2788920"/>
            <a:ext cx="2971800" cy="77724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Mitigación, no solo medición</a:t>
            </a:r>
            <a:endParaRPr lang="en-US" sz="1500" dirty="0"/>
          </a:p>
        </p:txBody>
      </p:sp>
      <p:sp>
        <p:nvSpPr>
          <p:cNvPr id="15" name="Text 13"/>
          <p:cNvSpPr/>
          <p:nvPr/>
        </p:nvSpPr>
        <p:spPr>
          <a:xfrm>
            <a:off x="8275320" y="3611880"/>
            <a:ext cx="2971800" cy="164592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Añadir la restricción de equidad ya documentada en el diseño del QUBO: penalizar explícitamente la selección conjunta de proxies.</a:t>
            </a:r>
            <a:endParaRPr lang="en-US" sz="1250" dirty="0"/>
          </a:p>
        </p:txBody>
      </p:sp>
      <p:sp>
        <p:nvSpPr>
          <p:cNvPr id="16" name="Text 14"/>
          <p:cNvSpPr/>
          <p:nvPr/>
        </p:nvSpPr>
        <p:spPr>
          <a:xfrm>
            <a:off x="11521440" y="6446520"/>
            <a:ext cx="5486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326880" y="-1645920"/>
            <a:ext cx="5029200" cy="5029200"/>
          </a:xfrm>
          <a:prstGeom prst="ellipse">
            <a:avLst/>
          </a:prstGeom>
          <a:solidFill>
            <a:srgbClr val="141B47"/>
          </a:solidFill>
          <a:ln/>
        </p:spPr>
      </p:sp>
      <p:sp>
        <p:nvSpPr>
          <p:cNvPr id="3" name="Text 1"/>
          <p:cNvSpPr/>
          <p:nvPr/>
        </p:nvSpPr>
        <p:spPr>
          <a:xfrm>
            <a:off x="822960" y="822960"/>
            <a:ext cx="9144000" cy="365760"/>
          </a:xfrm>
          <a:prstGeom prst="rect">
            <a:avLst/>
          </a:prstGeom>
          <a:noFill/>
          <a:ln/>
        </p:spPr>
        <p:txBody>
          <a:bodyPr wrap="square" rtlCol="0" anchor="ctr"/>
          <a:lstStyle/>
          <a:p>
            <a:pPr indent="0" marL="0">
              <a:buNone/>
            </a:pPr>
            <a:r>
              <a:rPr lang="en-US" sz="1300" b="1" spc="200" kern="0" dirty="0">
                <a:solidFill>
                  <a:srgbClr val="B23A48"/>
                </a:solidFill>
                <a:latin typeface="Calibri" pitchFamily="34" charset="0"/>
                <a:ea typeface="Calibri" pitchFamily="34" charset="-122"/>
                <a:cs typeface="Calibri" pitchFamily="34" charset="-120"/>
              </a:rPr>
              <a:t>LO QUE ESTAMOS VENDIENDO</a:t>
            </a:r>
            <a:endParaRPr lang="en-US" sz="1300" dirty="0"/>
          </a:p>
        </p:txBody>
      </p:sp>
      <p:sp>
        <p:nvSpPr>
          <p:cNvPr id="4" name="Text 2"/>
          <p:cNvSpPr/>
          <p:nvPr/>
        </p:nvSpPr>
        <p:spPr>
          <a:xfrm>
            <a:off x="822960" y="1371600"/>
            <a:ext cx="9601200" cy="210312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No un “optimizador cuántico”.</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Un auditor de sesgo indirecto</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con verificación matemática cruzada.</a:t>
            </a:r>
            <a:endParaRPr lang="en-US" sz="3400" dirty="0"/>
          </a:p>
        </p:txBody>
      </p:sp>
      <p:sp>
        <p:nvSpPr>
          <p:cNvPr id="5" name="Text 3"/>
          <p:cNvSpPr/>
          <p:nvPr/>
        </p:nvSpPr>
        <p:spPr>
          <a:xfrm>
            <a:off x="822960" y="3749040"/>
            <a:ext cx="8961120" cy="1005840"/>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Los propios datos dicen que QUBO no gana en AUC. Dicen, con la misma claridad, que reduce el sesgo indirecto medible y el tamaño del modelo — algo que ninguna herramienta estándar de selección ofrece hoy, con la verificación matemática para respaldarlo.</a:t>
            </a:r>
            <a:endParaRPr lang="en-US" sz="1500" dirty="0"/>
          </a:p>
        </p:txBody>
      </p:sp>
      <p:sp>
        <p:nvSpPr>
          <p:cNvPr id="6" name="Text 4"/>
          <p:cNvSpPr/>
          <p:nvPr/>
        </p:nvSpPr>
        <p:spPr>
          <a:xfrm>
            <a:off x="822960" y="6126480"/>
            <a:ext cx="7315200" cy="365760"/>
          </a:xfrm>
          <a:prstGeom prst="rect">
            <a:avLst/>
          </a:prstGeom>
          <a:noFill/>
          <a:ln/>
        </p:spPr>
        <p:txBody>
          <a:bodyPr wrap="square" rtlCol="0" anchor="ctr"/>
          <a:lstStyle/>
          <a:p>
            <a:pPr indent="0" marL="0">
              <a:buNone/>
            </a:pPr>
            <a:r>
              <a:rPr lang="en-US" sz="1200" dirty="0">
                <a:solidFill>
                  <a:srgbClr val="7C8FC7"/>
                </a:solidFill>
                <a:latin typeface="Calibri" pitchFamily="34" charset="0"/>
                <a:ea typeface="Calibri" pitchFamily="34" charset="-122"/>
                <a:cs typeface="Calibri" pitchFamily="34" charset="-120"/>
              </a:rPr>
              <a:t>Tikee · Proyecto de innovación universitaria · UTPL Ecuador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Tikee: selección de variables cuántico-inspirada para scoring crediticio</dc:title>
  <dc:subject>PptxGenJS Presentation</dc:subject>
  <dc:creator>Tikee — UTPL</dc:creator>
  <cp:lastModifiedBy>Tikee — UTPL</cp:lastModifiedBy>
  <cp:revision>1</cp:revision>
  <dcterms:created xsi:type="dcterms:W3CDTF">2026-07-28T20:34:09Z</dcterms:created>
  <dcterms:modified xsi:type="dcterms:W3CDTF">2026-07-28T20:34:09Z</dcterms:modified>
</cp:coreProperties>
</file>