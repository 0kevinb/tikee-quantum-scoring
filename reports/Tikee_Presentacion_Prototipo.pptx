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AUC media (10 semillas)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media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23A4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3B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Todas</c:v>
                  </c:pt>
                  <c:pt idx="1">
                    <c:v>LASSO</c:v>
                  </c:pt>
                  <c:pt idx="2">
                    <c:v>Stepwise</c:v>
                  </c:pt>
                  <c:pt idx="3">
                    <c:v>QUBO
+recocido</c:v>
                  </c:pt>
                  <c:pt idx="4">
                    <c:v>QUBO
óptimo cert.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0.8226</c:v>
                </c:pt>
                <c:pt idx="1">
                  <c:v>0.8231</c:v>
                </c:pt>
                <c:pt idx="2">
                  <c:v>0.8229</c:v>
                </c:pt>
                <c:pt idx="3">
                  <c:v>0.815</c:v>
                </c:pt>
                <c:pt idx="4">
                  <c:v>0.8205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.7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AUC media (10 semillas)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media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23A4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3A4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Todas</c:v>
                  </c:pt>
                  <c:pt idx="1">
                    <c:v>LASSO</c:v>
                  </c:pt>
                  <c:pt idx="2">
                    <c:v>Stepwise</c:v>
                  </c:pt>
                  <c:pt idx="3">
                    <c:v>QUBO
+recocido</c:v>
                  </c:pt>
                  <c:pt idx="4">
                    <c:v>QUBO
+MILP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0.8179</c:v>
                </c:pt>
                <c:pt idx="1">
                  <c:v>0.819</c:v>
                </c:pt>
                <c:pt idx="2">
                  <c:v>0.8197</c:v>
                </c:pt>
                <c:pt idx="3">
                  <c:v>0.7875</c:v>
                </c:pt>
                <c:pt idx="4">
                  <c:v>0.7967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.7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41B47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B23A48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· PROYECTO DE INNOVACIÓN UNIVERSITARIA · UTPL ECUADOR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TIKEE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 variables cuántico-inspirada para scoring crediticio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banco de pruebas honesto para saber si la optimización combinatoria mejora el crédito — y una herramienta real de auditoría de sesgo que sí funciona.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100% sintéticos. "Cuántico-inspirado" = recocido simulado clásico. Sin hardware cuántico.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variables no basta — hay que poder probarlo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187452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Obligación regulatoria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17320" y="225856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cooperativa SEPS debe poder sustentar ante el socio y el supervisor por qué se negó un crédito.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91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324612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punto ciego de hoy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63016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y stepwise seleccionan variables, pero ninguno mide cuánto sesgo indirecto hacia sexo, zona o provincia sobrevive en el modelo final.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461772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promesa a probar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500176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optimizador combinatorio (QUBO) sobre relevancia-redundancia promete modelos más chicos. ¿Es solo una caja negra más opaca, o de verdad ayuda?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ENFOQUE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solucionadores, el mismo problema matemático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separar tres preguntas que la literatura suele mezclar: ¿la formulación es buena? ¿el heurístico aporta algo? ¿el paradigma cuántico aporta algo?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965960" cy="1828800"/>
          </a:xfrm>
          <a:prstGeom prst="roundRect">
            <a:avLst>
              <a:gd name="adj" fmla="val 6000"/>
            </a:avLst>
          </a:prstGeom>
          <a:solidFill>
            <a:srgbClr val="F3F5FC"/>
          </a:solidFill>
          <a:ln/>
          <a:effectLst>
            <a:outerShdw sx="100000" sy="100000" kx="0" ky="0" algn="bl" rotWithShape="0" blurRad="76200" dist="25400" dir="5400000">
              <a:srgbClr val="8891B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03020" y="26060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130302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Recocido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Heurístico rápido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62072" y="2331720"/>
            <a:ext cx="1965960" cy="1828800"/>
          </a:xfrm>
          <a:prstGeom prst="roundRect">
            <a:avLst>
              <a:gd name="adj" fmla="val 6000"/>
            </a:avLst>
          </a:prstGeom>
          <a:solidFill>
            <a:srgbClr val="F3F5FC"/>
          </a:solidFill>
          <a:ln/>
          <a:effectLst>
            <a:outerShdw sx="100000" sy="100000" kx="0" ky="0" algn="bl" rotWithShape="0" blurRad="76200" dist="25400" dir="5400000">
              <a:srgbClr val="8891B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25012" y="26060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3525012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53512" y="32918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Enumeración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53512" y="37947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Óptimo garantizado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84064" y="2331720"/>
            <a:ext cx="1965960" cy="1828800"/>
          </a:xfrm>
          <a:prstGeom prst="roundRect">
            <a:avLst>
              <a:gd name="adj" fmla="val 6000"/>
            </a:avLst>
          </a:prstGeom>
          <a:solidFill>
            <a:srgbClr val="F3F5FC"/>
          </a:solidFill>
          <a:ln/>
          <a:effectLst>
            <a:outerShdw sx="100000" sy="100000" kx="0" ky="0" algn="bl" rotWithShape="0" blurRad="76200" dist="25400" dir="5400000">
              <a:srgbClr val="8891B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47004" y="2606040"/>
            <a:ext cx="640080" cy="640080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7" name="Text 15"/>
          <p:cNvSpPr/>
          <p:nvPr/>
        </p:nvSpPr>
        <p:spPr>
          <a:xfrm>
            <a:off x="5747004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175504" y="32918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MILP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75504" y="37947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Óptimo certificado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06056" y="2331720"/>
            <a:ext cx="1965960" cy="1828800"/>
          </a:xfrm>
          <a:prstGeom prst="roundRect">
            <a:avLst>
              <a:gd name="adj" fmla="val 6000"/>
            </a:avLst>
          </a:prstGeom>
          <a:solidFill>
            <a:srgbClr val="F3F5FC"/>
          </a:solidFill>
          <a:ln/>
          <a:effectLst>
            <a:outerShdw sx="100000" sy="100000" kx="0" ky="0" algn="bl" rotWithShape="0" blurRad="76200" dist="25400" dir="5400000">
              <a:srgbClr val="8891B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968996" y="26060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968996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397496" y="32918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Búsqueda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tabú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97496" y="37947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2.º heurístico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28048" y="2331720"/>
            <a:ext cx="1965960" cy="1828800"/>
          </a:xfrm>
          <a:prstGeom prst="roundRect">
            <a:avLst>
              <a:gd name="adj" fmla="val 6000"/>
            </a:avLst>
          </a:prstGeom>
          <a:solidFill>
            <a:srgbClr val="F3F5FC"/>
          </a:solidFill>
          <a:ln/>
          <a:effectLst>
            <a:outerShdw sx="100000" sy="100000" kx="0" ky="0" algn="bl" rotWithShape="0" blurRad="76200" dist="25400" dir="5400000">
              <a:srgbClr val="8891B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190988" y="26060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0190988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619488" y="32918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QAOA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(simulado)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19488" y="37947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 cuántico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457200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escalas: Nivel A (18 variables, óptimo verificable) y Nivel B (45 variables, incluye trampas de ruido diseñadas a propósito) — cada una corrida sobre 10 generaciones de datos independientes.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CONFIAR EN EL NÚMERO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Verificado, no solo afirmado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26/26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 en verde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4572000" y="333756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Semillas donde el óptimo certificado (MILP) coincide EXACTO con la enumeración exhaustiva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0" y="21031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200" dirty="0"/>
          </a:p>
        </p:txBody>
      </p:sp>
      <p:sp>
        <p:nvSpPr>
          <p:cNvPr id="9" name="Text 7"/>
          <p:cNvSpPr/>
          <p:nvPr/>
        </p:nvSpPr>
        <p:spPr>
          <a:xfrm>
            <a:off x="8321040" y="333756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Hiperparámetros ajustados después de ver resultados de prueba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029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brazos comparten exactamente la misma semilla, el mismo split y el mismo preprocesamiento — lo único que cambia es el subconjunto de columnas.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— NIVEL A · 18 VARIABLES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Empata en precisión. Gana en parsimonia. Pierde en estabilidad.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737360"/>
            <a:ext cx="4754880" cy="1234440"/>
          </a:xfrm>
          <a:prstGeom prst="roundRect">
            <a:avLst>
              <a:gd name="adj" fmla="val 7407"/>
            </a:avLst>
          </a:prstGeom>
          <a:solidFill>
            <a:srgbClr val="F3F5FC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0" y="18470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diferencia significativa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132320" y="224028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Nemenyi no encuentra ninguna diferencia individual QUBO-vs-clásico.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903720" y="3154680"/>
            <a:ext cx="4754880" cy="1234440"/>
          </a:xfrm>
          <a:prstGeom prst="roundRect">
            <a:avLst>
              <a:gd name="adj" fmla="val 7407"/>
            </a:avLst>
          </a:prstGeom>
          <a:solidFill>
            <a:srgbClr val="F3F5FC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0" y="326440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 variables vs. 13.3 de LASSO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36576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final más chico y auditable.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903720" y="4572000"/>
            <a:ext cx="4754880" cy="1234440"/>
          </a:xfrm>
          <a:prstGeom prst="roundRect">
            <a:avLst>
              <a:gd name="adj" fmla="val 7407"/>
            </a:avLst>
          </a:prstGeom>
          <a:solidFill>
            <a:srgbClr val="F3F5FC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0" y="468172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Estabilidad más baja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132320" y="507492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0.45 (QUBO) vs. 0.64 (LASSO): elige variables algo distintas cada corrida.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— NIVEL B · 45 VARIABLES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Aquí sí pierde — y sabemos exactamente por qué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737360"/>
            <a:ext cx="4754880" cy="2331720"/>
          </a:xfrm>
          <a:prstGeom prst="roundRect">
            <a:avLst>
              <a:gd name="adj" fmla="val 3922"/>
            </a:avLst>
          </a:prstGeom>
          <a:solidFill>
            <a:srgbClr val="FDECEE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0" y="18745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Diferencia real, no ruido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0" y="22860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Stepwise-AIC supera a QUBO con significancia estadística (prueba de Nemenyi, p&lt;0.05).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0" y="2926080"/>
            <a:ext cx="4297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diagnosticada: el criterio deja entrar gratis a variables de ruido puro cuando la cardinalidad exigida supera las variables genuinamente útiles. Confirmado en los 3 solucionadores probados.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03720" y="4251960"/>
            <a:ext cx="4754880" cy="1417320"/>
          </a:xfrm>
          <a:prstGeom prst="roundRect">
            <a:avLst>
              <a:gd name="adj" fmla="val 6452"/>
            </a:avLst>
          </a:prstGeom>
          <a:solidFill>
            <a:srgbClr val="F3F5FC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0" y="4370832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un parche cosmético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132320" y="470916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Probamos subir la sensibilidad del estimador de relevancia: no separa limpiamente ruido de señal débil real. El fix correcto es de v2, no de una tarde.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HALLAZGO QUE SÍ VALE VENDER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¿Puede un modelo delatar la zona de residencia de un solicitante sin que esa variable exista?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7C8F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822960" y="384048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todas las variables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 LASSO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66360" y="26060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6492240" y="237744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0.61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6492240" y="384048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selección QUBO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 variables)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21208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de un clasificador auxiliar prediciendo "zona de residencia" a partir SOLO de las variables seleccionadas para el crédito. 0,50 = sin codificación · 1,00 = codificación perfecta.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Simplemente por usar menos variables, menos redundantes entre sí, se cortan la mayoría de las rutas indirectas hacia el atributo protegido.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ARGUMENTO REGULATORIO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significa frente a la SEPS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3F5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selección es opaca.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no tiene que serlo.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por qué el optimizador eligió esas 8 variables y no otras es difícil. Pero una regresión logística sobre esas 8 variables es perfectamente auditable: cada coeficiente se explica al socio.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“QUBO + logística es más defendible ante el supervisor que XGBoost con 45 variables.”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89320" y="1691640"/>
            <a:ext cx="5669280" cy="3931920"/>
          </a:xfrm>
          <a:prstGeom prst="roundRect">
            <a:avLst>
              <a:gd name="adj" fmla="val 2791"/>
            </a:avLst>
          </a:prstGeom>
          <a:solidFill>
            <a:srgbClr val="F3F5FC"/>
          </a:solidFill>
          <a:ln/>
        </p:spPr>
      </p:sp>
      <p:sp>
        <p:nvSpPr>
          <p:cNvPr id="9" name="Text 7"/>
          <p:cNvSpPr/>
          <p:nvPr/>
        </p:nvSpPr>
        <p:spPr>
          <a:xfrm>
            <a:off x="6263640" y="18745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Parsimonia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216712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8-12 variables vs. 18-45 — expediente más simple, menos consultas al buró.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80720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Sesgo indirecto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63640" y="3099816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AUC_proxy de zona de residencia cae de 1,00 a 0,61.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373989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Verificación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63640" y="4032504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Óptimo certificado por MILP, no solo un heurístico sin garantías.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467258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costo, con números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63640" y="4965192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ganancia de AUC es 0,003 y hay que justificar un optimizador combinatorio ante el regulador, la recomendación honesta puede ser no adoptarlo — y este framework es lo que permite decidirlo con datos.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 ANTE 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este prototipo todavía no resuelve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01952"/>
            <a:ext cx="128016" cy="128016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82880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sintéticos: mide recuperar una estructura que nosotros diseñamos, no el riesgo real de crédito en Ecuador.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128016" cy="128016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88036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de selección tiene una vulnerabilidad diagnosticada en 45 variables (trampa de ruido) — con causa conocida, sin parche rápido validado todavía.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005072"/>
            <a:ext cx="128016" cy="128016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93192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circuito cuántico simulado no aporta ninguna ventaja de tiempo ni de calidad en este problema — y es físicamente imposible de simular en la escala de 45 variables.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5056632"/>
            <a:ext cx="128016" cy="128016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98348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auditoría de equidad mide propagación de sesgo sobre datos sintéticos con sesgo inyectado por diseño, no el sesgo real del crédito ecuatoriano.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89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prototipo que declara sus límites con la misma precisión que sus resultados es más creíble, no menos.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prototipo académico a herramienta piloteable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29000" cy="3383280"/>
          </a:xfrm>
          <a:prstGeom prst="roundRect">
            <a:avLst>
              <a:gd name="adj" fmla="val 3243"/>
            </a:avLst>
          </a:prstGeom>
          <a:solidFill>
            <a:srgbClr val="F3F5F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24028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7889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Estimador de relevancia robusto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el estimador de vecinos por uno menos sensible a ruido en alta dimensión, cerrando la brecha de Nivel B.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011680"/>
            <a:ext cx="3429000" cy="3383280"/>
          </a:xfrm>
          <a:prstGeom prst="roundRect">
            <a:avLst>
              <a:gd name="adj" fmla="val 3243"/>
            </a:avLst>
          </a:prstGeom>
          <a:solidFill>
            <a:srgbClr val="F3F5FC"/>
          </a:solidFill>
          <a:ln/>
        </p:spPr>
      </p:sp>
      <p:sp>
        <p:nvSpPr>
          <p:cNvPr id="9" name="Text 7"/>
          <p:cNvSpPr/>
          <p:nvPr/>
        </p:nvSpPr>
        <p:spPr>
          <a:xfrm>
            <a:off x="4526280" y="224028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26280" y="27889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Piloto con datos reales anonimizados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361188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Convenio con una cooperativa SEPS para validar sobre cartera real, con el mismo framework de auditoría.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2011680"/>
            <a:ext cx="3429000" cy="3383280"/>
          </a:xfrm>
          <a:prstGeom prst="roundRect">
            <a:avLst>
              <a:gd name="adj" fmla="val 3243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224028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v2.0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75320" y="27889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Mitigación, no solo medición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5320" y="361188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la restricción de equidad ya documentada en el diseño del QUBO: penalizar explícitamente la selección conjunta de proxies.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41B4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22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ESTAMOS VENDIENDO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un “optimizador cuántico”.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auditor de sesgo indirecto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verificación matemática cruzada.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8961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propios datos dicen que QUBO no gana en AUC. Dicen, con la misma claridad, que reduce el sesgo indirecto medible y el tamaño del modelo — algo que ninguna herramienta estándar de selección ofrece hoy, con la verificación matemática para respaldarlo.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Tikee · Proyecto de innovación universitaria · UTPL Ecuador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Tikee: selección de variables cuántico-inspirada para scoring crediticio</dc:title>
  <dc:subject>PptxGenJS Presentation</dc:subject>
  <dc:creator>Tikee — UTPL</dc:creator>
  <cp:lastModifiedBy>Tikee — UTPL</cp:lastModifiedBy>
  <cp:revision>1</cp:revision>
  <dcterms:created xsi:type="dcterms:W3CDTF">2026-07-28T16:15:15Z</dcterms:created>
  <dcterms:modified xsi:type="dcterms:W3CDTF">2026-07-28T16:15:15Z</dcterms:modified>
</cp:coreProperties>
</file>